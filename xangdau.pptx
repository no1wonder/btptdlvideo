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274" r:id="rId4"/>
    <p:sldId id="277" r:id="rId5"/>
    <p:sldId id="280" r:id="rId6"/>
    <p:sldId id="271" r:id="rId7"/>
    <p:sldId id="275" r:id="rId8"/>
    <p:sldId id="278" r:id="rId9"/>
    <p:sldId id="273" r:id="rId10"/>
    <p:sldId id="279" r:id="rId11"/>
    <p:sldId id="285" r:id="rId12"/>
    <p:sldId id="286" r:id="rId13"/>
    <p:sldId id="284" r:id="rId14"/>
    <p:sldId id="287" r:id="rId15"/>
    <p:sldId id="281" r:id="rId16"/>
    <p:sldId id="282" r:id="rId17"/>
    <p:sldId id="283" r:id="rId18"/>
    <p:sldId id="272"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DADF"/>
    <a:srgbClr val="2368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2.xml"/><Relationship Id="rId15" Type="http://schemas.openxmlformats.org/officeDocument/2006/relationships/tags" Target="../tags/tag14.xml"/><Relationship Id="rId14" Type="http://schemas.openxmlformats.org/officeDocument/2006/relationships/image" Target="../media/image3.png"/><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image" Target="../media/image2.png"/><Relationship Id="rId3" Type="http://schemas.openxmlformats.org/officeDocument/2006/relationships/tags" Target="../tags/tag18.xml"/><Relationship Id="rId2" Type="http://schemas.openxmlformats.org/officeDocument/2006/relationships/tags" Target="../tags/tag17.xml"/><Relationship Id="rId16" Type="http://schemas.openxmlformats.org/officeDocument/2006/relationships/slideLayout" Target="../slideLayouts/slideLayout2.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tags" Target="../tags/tag33.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webp"/><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tags" Target="../tags/tag4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2ab3d008f7d1131a10c9ba5f68f0944040e9e325397d0-HlgNnv_fw658[1]"/>
          <p:cNvPicPr>
            <a:picLocks noChangeAspect="1"/>
          </p:cNvPicPr>
          <p:nvPr/>
        </p:nvPicPr>
        <p:blipFill>
          <a:blip r:embed="rId1"/>
          <a:stretch>
            <a:fillRect/>
          </a:stretch>
        </p:blipFill>
        <p:spPr>
          <a:xfrm>
            <a:off x="-105727" y="0"/>
            <a:ext cx="12192000" cy="6857365"/>
          </a:xfrm>
          <a:prstGeom prst="rect">
            <a:avLst/>
          </a:prstGeom>
        </p:spPr>
      </p:pic>
      <p:sp>
        <p:nvSpPr>
          <p:cNvPr id="6" name="矩形 5"/>
          <p:cNvSpPr/>
          <p:nvPr/>
        </p:nvSpPr>
        <p:spPr>
          <a:xfrm>
            <a:off x="1066165" y="641350"/>
            <a:ext cx="10242550" cy="5619115"/>
          </a:xfrm>
          <a:prstGeom prst="rect">
            <a:avLst/>
          </a:prstGeom>
          <a:noFill/>
          <a:ln w="28575">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sp>
        <p:nvSpPr>
          <p:cNvPr id="9" name="矩形 8"/>
          <p:cNvSpPr/>
          <p:nvPr/>
        </p:nvSpPr>
        <p:spPr>
          <a:xfrm>
            <a:off x="1807845" y="1202690"/>
            <a:ext cx="8424545" cy="4624070"/>
          </a:xfrm>
          <a:prstGeom prst="rect">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sp>
        <p:nvSpPr>
          <p:cNvPr id="7" name="文本框 6"/>
          <p:cNvSpPr txBox="1"/>
          <p:nvPr/>
        </p:nvSpPr>
        <p:spPr>
          <a:xfrm>
            <a:off x="2487295" y="3485515"/>
            <a:ext cx="6605270" cy="864870"/>
          </a:xfrm>
          <a:prstGeom prst="rect">
            <a:avLst/>
          </a:prstGeom>
          <a:noFill/>
        </p:spPr>
        <p:txBody>
          <a:bodyPr wrap="square" rtlCol="0" anchor="t">
            <a:noAutofit/>
          </a:bodyPr>
          <a:p>
            <a:pPr algn="ctr"/>
            <a:r>
              <a:rPr lang="vi-VN" altLang="zh-CN" sz="4000">
                <a:blipFill>
                  <a:blip r:embed="rId2"/>
                  <a:tile tx="-38100" ty="-349250" sx="100000" sy="100000" flip="none" algn="tl"/>
                </a:blipFill>
                <a:latin typeface="Times New Roman" panose="02020603050405020304" charset="0"/>
                <a:cs typeface="Times New Roman" panose="02020603050405020304" charset="0"/>
              </a:rPr>
              <a:t>NHÓM 1</a:t>
            </a:r>
            <a:endParaRPr lang="vi-VN" altLang="zh-CN" sz="4000">
              <a:blipFill>
                <a:blip r:embed="rId2"/>
                <a:tile tx="-38100" ty="-349250" sx="100000" sy="100000" flip="none" algn="tl"/>
              </a:blipFill>
              <a:latin typeface="Times New Roman" panose="02020603050405020304" charset="0"/>
              <a:cs typeface="Times New Roman" panose="02020603050405020304" charset="0"/>
            </a:endParaRPr>
          </a:p>
        </p:txBody>
      </p:sp>
      <p:sp>
        <p:nvSpPr>
          <p:cNvPr id="8" name="文本框 7"/>
          <p:cNvSpPr txBox="1"/>
          <p:nvPr/>
        </p:nvSpPr>
        <p:spPr>
          <a:xfrm>
            <a:off x="2598420" y="4673600"/>
            <a:ext cx="7177405" cy="460375"/>
          </a:xfrm>
          <a:prstGeom prst="rect">
            <a:avLst/>
          </a:prstGeom>
          <a:noFill/>
        </p:spPr>
        <p:txBody>
          <a:bodyPr wrap="square" rtlCol="0" anchor="t">
            <a:spAutoFit/>
          </a:bodyPr>
          <a:p>
            <a:pPr>
              <a:lnSpc>
                <a:spcPct val="100000"/>
              </a:lnSpc>
              <a:spcBef>
                <a:spcPts val="90"/>
              </a:spcBef>
            </a:pPr>
            <a:r>
              <a:rPr sz="2400" spc="-60" dirty="0">
                <a:solidFill>
                  <a:srgbClr val="01DADF"/>
                </a:solidFill>
                <a:latin typeface="Times New Roman" panose="02020603050405020304" charset="0"/>
                <a:cs typeface="Times New Roman" panose="02020603050405020304" charset="0"/>
                <a:sym typeface="+mn-ea"/>
              </a:rPr>
              <a:t>Khám</a:t>
            </a:r>
            <a:r>
              <a:rPr sz="2400" spc="-185" dirty="0">
                <a:solidFill>
                  <a:srgbClr val="01DADF"/>
                </a:solidFill>
                <a:latin typeface="Times New Roman" panose="02020603050405020304" charset="0"/>
                <a:cs typeface="Times New Roman" panose="02020603050405020304" charset="0"/>
                <a:sym typeface="+mn-ea"/>
              </a:rPr>
              <a:t> </a:t>
            </a:r>
            <a:r>
              <a:rPr sz="2400" spc="-45" dirty="0">
                <a:solidFill>
                  <a:srgbClr val="01DADF"/>
                </a:solidFill>
                <a:latin typeface="Times New Roman" panose="02020603050405020304" charset="0"/>
                <a:cs typeface="Times New Roman" panose="02020603050405020304" charset="0"/>
                <a:sym typeface="+mn-ea"/>
              </a:rPr>
              <a:t>phá</a:t>
            </a:r>
            <a:r>
              <a:rPr sz="2400" spc="-200" dirty="0">
                <a:solidFill>
                  <a:srgbClr val="01DADF"/>
                </a:solidFill>
                <a:latin typeface="Times New Roman" panose="02020603050405020304" charset="0"/>
                <a:cs typeface="Times New Roman" panose="02020603050405020304" charset="0"/>
                <a:sym typeface="+mn-ea"/>
              </a:rPr>
              <a:t> </a:t>
            </a:r>
            <a:r>
              <a:rPr sz="2400" spc="-254" dirty="0">
                <a:solidFill>
                  <a:srgbClr val="01DADF"/>
                </a:solidFill>
                <a:latin typeface="Times New Roman" panose="02020603050405020304" charset="0"/>
                <a:cs typeface="Times New Roman" panose="02020603050405020304" charset="0"/>
                <a:sym typeface="+mn-ea"/>
              </a:rPr>
              <a:t>xu</a:t>
            </a:r>
            <a:r>
              <a:rPr sz="2400" spc="-50" dirty="0">
                <a:solidFill>
                  <a:srgbClr val="01DADF"/>
                </a:solidFill>
                <a:latin typeface="Times New Roman" panose="02020603050405020304" charset="0"/>
                <a:cs typeface="Times New Roman" panose="02020603050405020304" charset="0"/>
                <a:sym typeface="+mn-ea"/>
              </a:rPr>
              <a:t> </a:t>
            </a:r>
            <a:r>
              <a:rPr sz="2400" spc="-95" dirty="0">
                <a:solidFill>
                  <a:srgbClr val="01DADF"/>
                </a:solidFill>
                <a:latin typeface="Times New Roman" panose="02020603050405020304" charset="0"/>
                <a:cs typeface="Times New Roman" panose="02020603050405020304" charset="0"/>
                <a:sym typeface="+mn-ea"/>
              </a:rPr>
              <a:t>h</a:t>
            </a:r>
            <a:r>
              <a:rPr lang="vi-VN" sz="2400" spc="-95" dirty="0">
                <a:solidFill>
                  <a:srgbClr val="01DADF"/>
                </a:solidFill>
                <a:latin typeface="Times New Roman" panose="02020603050405020304" charset="0"/>
                <a:cs typeface="Times New Roman" panose="02020603050405020304" charset="0"/>
                <a:sym typeface="+mn-ea"/>
              </a:rPr>
              <a:t>ướn</a:t>
            </a:r>
            <a:r>
              <a:rPr sz="2400" spc="-95" dirty="0">
                <a:solidFill>
                  <a:srgbClr val="01DADF"/>
                </a:solidFill>
                <a:latin typeface="Times New Roman" panose="02020603050405020304" charset="0"/>
                <a:cs typeface="Times New Roman" panose="02020603050405020304" charset="0"/>
                <a:sym typeface="+mn-ea"/>
              </a:rPr>
              <a:t>g,</a:t>
            </a:r>
            <a:r>
              <a:rPr sz="2400" spc="-150" dirty="0">
                <a:solidFill>
                  <a:srgbClr val="01DADF"/>
                </a:solidFill>
                <a:latin typeface="Times New Roman" panose="02020603050405020304" charset="0"/>
                <a:cs typeface="Times New Roman" panose="02020603050405020304" charset="0"/>
                <a:sym typeface="+mn-ea"/>
              </a:rPr>
              <a:t> </a:t>
            </a:r>
            <a:r>
              <a:rPr sz="2400" spc="140" dirty="0">
                <a:solidFill>
                  <a:srgbClr val="01DADF"/>
                </a:solidFill>
                <a:latin typeface="Times New Roman" panose="02020603050405020304" charset="0"/>
                <a:cs typeface="Times New Roman" panose="02020603050405020304" charset="0"/>
                <a:sym typeface="+mn-ea"/>
              </a:rPr>
              <a:t>d</a:t>
            </a:r>
            <a:r>
              <a:rPr lang="vi-VN" sz="2400" spc="140" dirty="0">
                <a:solidFill>
                  <a:srgbClr val="01DADF"/>
                </a:solidFill>
                <a:latin typeface="Times New Roman" panose="02020603050405020304" charset="0"/>
                <a:cs typeface="Times New Roman" panose="02020603050405020304" charset="0"/>
                <a:sym typeface="+mn-ea"/>
              </a:rPr>
              <a:t>ự</a:t>
            </a:r>
            <a:r>
              <a:rPr sz="2400" spc="-240" dirty="0">
                <a:solidFill>
                  <a:srgbClr val="01DADF"/>
                </a:solidFill>
                <a:latin typeface="Times New Roman" panose="02020603050405020304" charset="0"/>
                <a:cs typeface="Times New Roman" panose="02020603050405020304" charset="0"/>
                <a:sym typeface="+mn-ea"/>
              </a:rPr>
              <a:t> </a:t>
            </a:r>
            <a:r>
              <a:rPr sz="2400" dirty="0">
                <a:solidFill>
                  <a:srgbClr val="01DADF"/>
                </a:solidFill>
                <a:latin typeface="Times New Roman" panose="02020603050405020304" charset="0"/>
                <a:cs typeface="Times New Roman" panose="02020603050405020304" charset="0"/>
                <a:sym typeface="+mn-ea"/>
              </a:rPr>
              <a:t>báo</a:t>
            </a:r>
            <a:r>
              <a:rPr sz="2400" spc="-145" dirty="0">
                <a:solidFill>
                  <a:srgbClr val="01DADF"/>
                </a:solidFill>
                <a:latin typeface="Times New Roman" panose="02020603050405020304" charset="0"/>
                <a:cs typeface="Times New Roman" panose="02020603050405020304" charset="0"/>
                <a:sym typeface="+mn-ea"/>
              </a:rPr>
              <a:t> </a:t>
            </a:r>
            <a:r>
              <a:rPr sz="2400" dirty="0">
                <a:solidFill>
                  <a:srgbClr val="01DADF"/>
                </a:solidFill>
                <a:latin typeface="Times New Roman" panose="02020603050405020304" charset="0"/>
                <a:cs typeface="Times New Roman" panose="02020603050405020304" charset="0"/>
                <a:sym typeface="+mn-ea"/>
              </a:rPr>
              <a:t>&amp;</a:t>
            </a:r>
            <a:r>
              <a:rPr sz="2400" spc="-200" dirty="0">
                <a:solidFill>
                  <a:srgbClr val="01DADF"/>
                </a:solidFill>
                <a:latin typeface="Times New Roman" panose="02020603050405020304" charset="0"/>
                <a:cs typeface="Times New Roman" panose="02020603050405020304" charset="0"/>
                <a:sym typeface="+mn-ea"/>
              </a:rPr>
              <a:t> </a:t>
            </a:r>
            <a:r>
              <a:rPr lang="vi-VN" sz="2400" spc="-200" dirty="0">
                <a:solidFill>
                  <a:srgbClr val="01DADF"/>
                </a:solidFill>
                <a:latin typeface="Times New Roman" panose="02020603050405020304" charset="0"/>
                <a:cs typeface="Times New Roman" panose="02020603050405020304" charset="0"/>
                <a:sym typeface="+mn-ea"/>
              </a:rPr>
              <a:t>ả</a:t>
            </a:r>
            <a:r>
              <a:rPr sz="2400" spc="-60" dirty="0">
                <a:solidFill>
                  <a:srgbClr val="01DADF"/>
                </a:solidFill>
                <a:latin typeface="Times New Roman" panose="02020603050405020304" charset="0"/>
                <a:cs typeface="Times New Roman" panose="02020603050405020304" charset="0"/>
                <a:sym typeface="+mn-ea"/>
              </a:rPr>
              <a:t>nh</a:t>
            </a:r>
            <a:r>
              <a:rPr sz="2400" spc="-170" dirty="0">
                <a:solidFill>
                  <a:srgbClr val="01DADF"/>
                </a:solidFill>
                <a:latin typeface="Times New Roman" panose="02020603050405020304" charset="0"/>
                <a:cs typeface="Times New Roman" panose="02020603050405020304" charset="0"/>
                <a:sym typeface="+mn-ea"/>
              </a:rPr>
              <a:t> </a:t>
            </a:r>
            <a:r>
              <a:rPr lang="vi-VN" sz="2400" spc="-170" dirty="0">
                <a:solidFill>
                  <a:srgbClr val="01DADF"/>
                </a:solidFill>
                <a:latin typeface="Times New Roman" panose="02020603050405020304" charset="0"/>
                <a:cs typeface="Times New Roman" panose="02020603050405020304" charset="0"/>
                <a:sym typeface="+mn-ea"/>
              </a:rPr>
              <a:t>hưởng</a:t>
            </a:r>
            <a:r>
              <a:rPr sz="2400" spc="-110" dirty="0">
                <a:solidFill>
                  <a:srgbClr val="01DADF"/>
                </a:solidFill>
                <a:latin typeface="Times New Roman" panose="02020603050405020304" charset="0"/>
                <a:cs typeface="Times New Roman" panose="02020603050405020304" charset="0"/>
                <a:sym typeface="+mn-ea"/>
              </a:rPr>
              <a:t> </a:t>
            </a:r>
            <a:r>
              <a:rPr sz="2400" spc="-190" dirty="0">
                <a:solidFill>
                  <a:srgbClr val="01DADF"/>
                </a:solidFill>
                <a:latin typeface="Times New Roman" panose="02020603050405020304" charset="0"/>
                <a:cs typeface="Times New Roman" panose="02020603050405020304" charset="0"/>
                <a:sym typeface="+mn-ea"/>
              </a:rPr>
              <a:t>kinh</a:t>
            </a:r>
            <a:r>
              <a:rPr sz="2400" spc="-55" dirty="0">
                <a:solidFill>
                  <a:srgbClr val="01DADF"/>
                </a:solidFill>
                <a:latin typeface="Times New Roman" panose="02020603050405020304" charset="0"/>
                <a:cs typeface="Times New Roman" panose="02020603050405020304" charset="0"/>
                <a:sym typeface="+mn-ea"/>
              </a:rPr>
              <a:t> </a:t>
            </a:r>
            <a:r>
              <a:rPr sz="2400" spc="-70" dirty="0">
                <a:solidFill>
                  <a:srgbClr val="01DADF"/>
                </a:solidFill>
                <a:latin typeface="Times New Roman" panose="02020603050405020304" charset="0"/>
                <a:cs typeface="Times New Roman" panose="02020603050405020304" charset="0"/>
                <a:sym typeface="+mn-ea"/>
              </a:rPr>
              <a:t>t</a:t>
            </a:r>
            <a:r>
              <a:rPr lang="vi-VN" sz="2400" spc="-70" dirty="0">
                <a:solidFill>
                  <a:srgbClr val="01DADF"/>
                </a:solidFill>
                <a:latin typeface="Times New Roman" panose="02020603050405020304" charset="0"/>
                <a:cs typeface="Times New Roman" panose="02020603050405020304" charset="0"/>
                <a:sym typeface="+mn-ea"/>
              </a:rPr>
              <a:t>ế</a:t>
            </a:r>
            <a:r>
              <a:rPr sz="2400" spc="-195" dirty="0">
                <a:solidFill>
                  <a:srgbClr val="01DADF"/>
                </a:solidFill>
                <a:latin typeface="Times New Roman" panose="02020603050405020304" charset="0"/>
                <a:cs typeface="Times New Roman" panose="02020603050405020304" charset="0"/>
                <a:sym typeface="+mn-ea"/>
              </a:rPr>
              <a:t> </a:t>
            </a:r>
            <a:r>
              <a:rPr sz="2400" spc="-95" dirty="0">
                <a:solidFill>
                  <a:srgbClr val="01DADF"/>
                </a:solidFill>
                <a:latin typeface="Times New Roman" panose="02020603050405020304" charset="0"/>
                <a:cs typeface="Times New Roman" panose="02020603050405020304" charset="0"/>
                <a:sym typeface="+mn-ea"/>
              </a:rPr>
              <a:t>n</a:t>
            </a:r>
            <a:r>
              <a:rPr lang="vi-VN" sz="2400" spc="-95" dirty="0">
                <a:solidFill>
                  <a:srgbClr val="01DADF"/>
                </a:solidFill>
                <a:latin typeface="Times New Roman" panose="02020603050405020304" charset="0"/>
                <a:cs typeface="Times New Roman" panose="02020603050405020304" charset="0"/>
                <a:sym typeface="+mn-ea"/>
              </a:rPr>
              <a:t>ă</a:t>
            </a:r>
            <a:r>
              <a:rPr sz="2400" spc="-95" dirty="0">
                <a:solidFill>
                  <a:srgbClr val="01DADF"/>
                </a:solidFill>
                <a:latin typeface="Times New Roman" panose="02020603050405020304" charset="0"/>
                <a:cs typeface="Times New Roman" panose="02020603050405020304" charset="0"/>
                <a:sym typeface="+mn-ea"/>
              </a:rPr>
              <a:t>m</a:t>
            </a:r>
            <a:r>
              <a:rPr sz="2400" spc="-114" dirty="0">
                <a:solidFill>
                  <a:srgbClr val="01DADF"/>
                </a:solidFill>
                <a:latin typeface="Times New Roman" panose="02020603050405020304" charset="0"/>
                <a:cs typeface="Times New Roman" panose="02020603050405020304" charset="0"/>
                <a:sym typeface="+mn-ea"/>
              </a:rPr>
              <a:t> </a:t>
            </a:r>
            <a:r>
              <a:rPr sz="2400" spc="-20" dirty="0">
                <a:solidFill>
                  <a:srgbClr val="01DADF"/>
                </a:solidFill>
                <a:latin typeface="Times New Roman" panose="02020603050405020304" charset="0"/>
                <a:cs typeface="Times New Roman" panose="02020603050405020304" charset="0"/>
                <a:sym typeface="+mn-ea"/>
              </a:rPr>
              <a:t>2026</a:t>
            </a:r>
            <a:endParaRPr lang="zh-CN" altLang="en-US" sz="2400" spc="-20" dirty="0">
              <a:solidFill>
                <a:srgbClr val="01DADF"/>
              </a:solidFill>
              <a:latin typeface="Times New Roman" panose="02020603050405020304" charset="0"/>
              <a:cs typeface="Times New Roman" panose="02020603050405020304" charset="0"/>
              <a:sym typeface="+mn-ea"/>
            </a:endParaRPr>
          </a:p>
        </p:txBody>
      </p:sp>
      <p:sp>
        <p:nvSpPr>
          <p:cNvPr id="3" name="Title 2"/>
          <p:cNvSpPr/>
          <p:nvPr>
            <p:ph type="title"/>
          </p:nvPr>
        </p:nvSpPr>
        <p:spPr>
          <a:xfrm>
            <a:off x="2132330" y="1734185"/>
            <a:ext cx="7898130" cy="1119505"/>
          </a:xfrm>
        </p:spPr>
        <p:style>
          <a:lnRef idx="2">
            <a:schemeClr val="accent1"/>
          </a:lnRef>
          <a:fillRef idx="0">
            <a:srgbClr val="FFFFFF"/>
          </a:fillRef>
          <a:effectRef idx="0">
            <a:srgbClr val="FFFFFF"/>
          </a:effectRef>
          <a:fontRef idx="minor">
            <a:schemeClr val="tx1"/>
          </a:fontRef>
        </p:style>
        <p:txBody>
          <a:bodyPr>
            <a:normAutofit fontScale="90000"/>
          </a:bodyPr>
          <a:p>
            <a:r>
              <a:rPr lang="vi-VN" altLang="en-GB" sz="4000">
                <a:solidFill>
                  <a:schemeClr val="accent1">
                    <a:lumMod val="75000"/>
                  </a:schemeClr>
                </a:solidFill>
                <a:latin typeface="Times New Roman" panose="02020603050405020304" charset="0"/>
                <a:cs typeface="Times New Roman" panose="02020603050405020304" charset="0"/>
              </a:rPr>
              <a:t>PHÂN TÍCH BIẾN ĐỘNG GIÁ XĂNG DẦU VIỆT NAM 202</a:t>
            </a:r>
            <a:r>
              <a:rPr lang="vi-VN" altLang="en-GB" sz="4000">
                <a:solidFill>
                  <a:schemeClr val="accent1">
                    <a:lumMod val="75000"/>
                  </a:schemeClr>
                </a:solidFill>
                <a:latin typeface="Times New Roman" panose="02020603050405020304" charset="0"/>
                <a:cs typeface="Times New Roman" panose="02020603050405020304" charset="0"/>
              </a:rPr>
              <a:t>1-</a:t>
            </a:r>
            <a:r>
              <a:rPr lang="vi-VN" altLang="en-GB" sz="4000">
                <a:solidFill>
                  <a:schemeClr val="accent1">
                    <a:lumMod val="75000"/>
                  </a:schemeClr>
                </a:solidFill>
                <a:latin typeface="Times New Roman" panose="02020603050405020304" charset="0"/>
                <a:cs typeface="Times New Roman" panose="02020603050405020304" charset="0"/>
              </a:rPr>
              <a:t>2025</a:t>
            </a:r>
            <a:endParaRPr lang="vi-VN" altLang="en-GB" sz="4000">
              <a:solidFill>
                <a:schemeClr val="accent1">
                  <a:lumMod val="75000"/>
                </a:schemeClr>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custDataLst>
              <p:tags r:id="rId1"/>
            </p:custDataLst>
          </p:nvPr>
        </p:nvGrpSpPr>
        <p:grpSpPr>
          <a:xfrm>
            <a:off x="1332230" y="1288415"/>
            <a:ext cx="4398645" cy="1084580"/>
            <a:chOff x="2098" y="1827"/>
            <a:chExt cx="6927" cy="1708"/>
          </a:xfrm>
        </p:grpSpPr>
        <p:sp>
          <p:nvSpPr>
            <p:cNvPr id="10" name="对话icon"/>
            <p:cNvSpPr/>
            <p:nvPr>
              <p:custDataLst>
                <p:tags r:id="rId2"/>
              </p:custDataLst>
            </p:nvPr>
          </p:nvSpPr>
          <p:spPr bwMode="auto">
            <a:xfrm>
              <a:off x="2098" y="2373"/>
              <a:ext cx="706" cy="616"/>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gradFill>
              <a:gsLst>
                <a:gs pos="0">
                  <a:srgbClr val="01DADF"/>
                </a:gs>
                <a:gs pos="100000">
                  <a:srgbClr val="2368A4"/>
                </a:gs>
              </a:gsLst>
              <a:lin ang="16200000" scaled="0"/>
            </a:gradFill>
            <a:ln>
              <a:noFill/>
            </a:ln>
          </p:spPr>
          <p:txBody>
            <a:bodyPr/>
            <a:p>
              <a:endParaRPr lang="zh-CN" altLang="en-US"/>
            </a:p>
          </p:txBody>
        </p:sp>
        <p:grpSp>
          <p:nvGrpSpPr>
            <p:cNvPr id="12" name="组合 11"/>
            <p:cNvGrpSpPr/>
            <p:nvPr/>
          </p:nvGrpSpPr>
          <p:grpSpPr>
            <a:xfrm>
              <a:off x="2997" y="1827"/>
              <a:ext cx="6028" cy="1708"/>
              <a:chOff x="6591" y="5496"/>
              <a:chExt cx="5318" cy="1236"/>
            </a:xfrm>
          </p:grpSpPr>
          <p:sp>
            <p:nvSpPr>
              <p:cNvPr id="22" name="文本框 11"/>
              <p:cNvSpPr txBox="1"/>
              <p:nvPr>
                <p:custDataLst>
                  <p:tags r:id="rId3"/>
                </p:custDataLst>
              </p:nvPr>
            </p:nvSpPr>
            <p:spPr>
              <a:xfrm>
                <a:off x="6591" y="5496"/>
                <a:ext cx="4007" cy="630"/>
              </a:xfrm>
              <a:prstGeom prst="rect">
                <a:avLst/>
              </a:prstGeom>
              <a:noFill/>
            </p:spPr>
            <p:txBody>
              <a:bodyPr anchor="ctr"/>
              <a:p>
                <a:pPr algn="l"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ĐỀ TÀI NÀY LÀM </a:t>
                </a:r>
                <a:r>
                  <a:rPr lang="vi-VN" altLang="en-US" sz="2000" b="1" dirty="0">
                    <a:solidFill>
                      <a:schemeClr val="tx1">
                        <a:lumMod val="85000"/>
                        <a:lumOff val="15000"/>
                      </a:schemeClr>
                    </a:solidFill>
                    <a:latin typeface="Arial" panose="020B0604020202020204" pitchFamily="34" charset="0"/>
                    <a:ea typeface="+mn-ea"/>
                    <a:sym typeface="+mn-ea"/>
                  </a:rPr>
                  <a:t>GÌ ?</a:t>
                </a:r>
                <a:endParaRPr lang="vi-VN" altLang="en-US" sz="2000" b="1" dirty="0">
                  <a:solidFill>
                    <a:schemeClr val="tx1">
                      <a:lumMod val="85000"/>
                      <a:lumOff val="15000"/>
                    </a:schemeClr>
                  </a:solidFill>
                  <a:latin typeface="Arial" panose="020B0604020202020204" pitchFamily="34" charset="0"/>
                  <a:ea typeface="+mn-ea"/>
                  <a:sym typeface="+mn-ea"/>
                </a:endParaRPr>
              </a:p>
            </p:txBody>
          </p:sp>
          <p:sp>
            <p:nvSpPr>
              <p:cNvPr id="13" name="文本框 11"/>
              <p:cNvSpPr txBox="1"/>
              <p:nvPr>
                <p:custDataLst>
                  <p:tags r:id="rId4"/>
                </p:custDataLst>
              </p:nvPr>
            </p:nvSpPr>
            <p:spPr>
              <a:xfrm>
                <a:off x="6591" y="5987"/>
                <a:ext cx="5318" cy="745"/>
              </a:xfrm>
              <a:prstGeom prst="rect">
                <a:avLst/>
              </a:prstGeom>
              <a:noFill/>
            </p:spPr>
            <p:txBody>
              <a:bodyPr anchor="ctr">
                <a:normAutofit/>
              </a:bodyPr>
              <a:p>
                <a:pPr algn="l" fontAlgn="auto">
                  <a:lnSpc>
                    <a:spcPct val="150000"/>
                  </a:lnSpc>
                  <a:spcBef>
                    <a:spcPts val="0"/>
                  </a:spcBef>
                  <a:spcAft>
                    <a:spcPts val="0"/>
                  </a:spcAft>
                  <a:defRPr/>
                </a:pPr>
                <a:r>
                  <a:rPr lang="vi-VN" altLang="da-DK" dirty="0">
                    <a:solidFill>
                      <a:schemeClr val="tx1">
                        <a:lumMod val="85000"/>
                        <a:lumOff val="15000"/>
                      </a:schemeClr>
                    </a:solidFill>
                    <a:latin typeface="Arial" panose="020B0604020202020204" pitchFamily="34" charset="0"/>
                    <a:sym typeface="+mn-ea"/>
                  </a:rPr>
                  <a:t>Phạm vi nghiên cứu</a:t>
                </a:r>
                <a:endParaRPr lang="vi-VN" altLang="da-DK" dirty="0">
                  <a:solidFill>
                    <a:schemeClr val="tx1">
                      <a:lumMod val="85000"/>
                      <a:lumOff val="15000"/>
                    </a:schemeClr>
                  </a:solidFill>
                  <a:latin typeface="Arial" panose="020B0604020202020204" pitchFamily="34" charset="0"/>
                  <a:sym typeface="+mn-ea"/>
                </a:endParaRPr>
              </a:p>
            </p:txBody>
          </p:sp>
        </p:grpSp>
      </p:grpSp>
      <p:grpSp>
        <p:nvGrpSpPr>
          <p:cNvPr id="11" name="组合 10"/>
          <p:cNvGrpSpPr/>
          <p:nvPr>
            <p:custDataLst>
              <p:tags r:id="rId5"/>
            </p:custDataLst>
          </p:nvPr>
        </p:nvGrpSpPr>
        <p:grpSpPr>
          <a:xfrm>
            <a:off x="1384935" y="2609918"/>
            <a:ext cx="4345940" cy="1697069"/>
            <a:chOff x="2181" y="1346"/>
            <a:chExt cx="6844" cy="2673"/>
          </a:xfrm>
        </p:grpSpPr>
        <p:sp>
          <p:nvSpPr>
            <p:cNvPr id="14" name="对话icon"/>
            <p:cNvSpPr/>
            <p:nvPr>
              <p:custDataLst>
                <p:tags r:id="rId6"/>
              </p:custDataLst>
            </p:nvPr>
          </p:nvSpPr>
          <p:spPr bwMode="auto">
            <a:xfrm>
              <a:off x="2181" y="2020"/>
              <a:ext cx="706" cy="616"/>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gradFill>
              <a:gsLst>
                <a:gs pos="0">
                  <a:srgbClr val="01DADF"/>
                </a:gs>
                <a:gs pos="100000">
                  <a:srgbClr val="2368A4"/>
                </a:gs>
              </a:gsLst>
              <a:lin ang="16200000" scaled="0"/>
            </a:gradFill>
            <a:ln>
              <a:noFill/>
            </a:ln>
          </p:spPr>
          <p:txBody>
            <a:bodyPr/>
            <a:p>
              <a:endParaRPr lang="zh-CN" altLang="en-US"/>
            </a:p>
          </p:txBody>
        </p:sp>
        <p:grpSp>
          <p:nvGrpSpPr>
            <p:cNvPr id="15" name="组合 14"/>
            <p:cNvGrpSpPr/>
            <p:nvPr/>
          </p:nvGrpSpPr>
          <p:grpSpPr>
            <a:xfrm>
              <a:off x="2997" y="1346"/>
              <a:ext cx="6028" cy="2673"/>
              <a:chOff x="6591" y="5148"/>
              <a:chExt cx="5318" cy="1934"/>
            </a:xfrm>
          </p:grpSpPr>
          <p:sp>
            <p:nvSpPr>
              <p:cNvPr id="16" name="文本框 11"/>
              <p:cNvSpPr txBox="1"/>
              <p:nvPr>
                <p:custDataLst>
                  <p:tags r:id="rId7"/>
                </p:custDataLst>
              </p:nvPr>
            </p:nvSpPr>
            <p:spPr>
              <a:xfrm>
                <a:off x="6591" y="5148"/>
                <a:ext cx="4007" cy="630"/>
              </a:xfrm>
              <a:prstGeom prst="rect">
                <a:avLst/>
              </a:prstGeom>
              <a:noFill/>
            </p:spPr>
            <p:txBody>
              <a:bodyPr anchor="ctr"/>
              <a:p>
                <a:pPr algn="l"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ĐỂ LÀM </a:t>
                </a:r>
                <a:r>
                  <a:rPr lang="vi-VN" altLang="en-US" sz="2000" b="1" dirty="0">
                    <a:solidFill>
                      <a:schemeClr val="tx1">
                        <a:lumMod val="85000"/>
                        <a:lumOff val="15000"/>
                      </a:schemeClr>
                    </a:solidFill>
                    <a:latin typeface="Arial" panose="020B0604020202020204" pitchFamily="34" charset="0"/>
                    <a:ea typeface="+mn-ea"/>
                    <a:sym typeface="+mn-ea"/>
                  </a:rPr>
                  <a:t>GÌ ?</a:t>
                </a:r>
                <a:endParaRPr lang="vi-VN" altLang="en-US" sz="2000" b="1" dirty="0">
                  <a:solidFill>
                    <a:schemeClr val="tx1">
                      <a:lumMod val="85000"/>
                      <a:lumOff val="15000"/>
                    </a:schemeClr>
                  </a:solidFill>
                  <a:latin typeface="Arial" panose="020B0604020202020204" pitchFamily="34" charset="0"/>
                  <a:ea typeface="+mn-ea"/>
                  <a:sym typeface="+mn-ea"/>
                </a:endParaRPr>
              </a:p>
            </p:txBody>
          </p:sp>
          <p:sp>
            <p:nvSpPr>
              <p:cNvPr id="17" name="文本框 11"/>
              <p:cNvSpPr txBox="1"/>
              <p:nvPr>
                <p:custDataLst>
                  <p:tags r:id="rId8"/>
                </p:custDataLst>
              </p:nvPr>
            </p:nvSpPr>
            <p:spPr>
              <a:xfrm>
                <a:off x="6591" y="5892"/>
                <a:ext cx="5318" cy="1190"/>
              </a:xfrm>
              <a:prstGeom prst="rect">
                <a:avLst/>
              </a:prstGeom>
              <a:noFill/>
            </p:spPr>
            <p:txBody>
              <a:bodyPr anchor="ctr">
                <a:noAutofit/>
              </a:bodyPr>
              <a:p>
                <a:pPr algn="l" fontAlgn="auto">
                  <a:lnSpc>
                    <a:spcPct val="150000"/>
                  </a:lnSpc>
                  <a:spcBef>
                    <a:spcPts val="0"/>
                  </a:spcBef>
                  <a:spcAft>
                    <a:spcPts val="0"/>
                  </a:spcAft>
                  <a:defRPr/>
                </a:pPr>
                <a:r>
                  <a:rPr lang="vi-VN" altLang="da-DK" sz="1700" dirty="0">
                    <a:solidFill>
                      <a:schemeClr val="tx1">
                        <a:lumMod val="85000"/>
                        <a:lumOff val="15000"/>
                      </a:schemeClr>
                    </a:solidFill>
                    <a:latin typeface="Arial" panose="020B0604020202020204" pitchFamily="34" charset="0"/>
                    <a:sym typeface="+mn-ea"/>
                  </a:rPr>
                  <a:t>Hiểu xu hướng </a:t>
                </a:r>
                <a:endParaRPr lang="vi-VN" altLang="da-DK" sz="1700" dirty="0">
                  <a:solidFill>
                    <a:schemeClr val="tx1">
                      <a:lumMod val="85000"/>
                      <a:lumOff val="15000"/>
                    </a:schemeClr>
                  </a:solidFill>
                  <a:latin typeface="Arial" panose="020B0604020202020204" pitchFamily="34" charset="0"/>
                  <a:sym typeface="+mn-ea"/>
                </a:endParaRPr>
              </a:p>
              <a:p>
                <a:pPr algn="l" fontAlgn="auto">
                  <a:lnSpc>
                    <a:spcPct val="150000"/>
                  </a:lnSpc>
                  <a:spcBef>
                    <a:spcPts val="0"/>
                  </a:spcBef>
                  <a:spcAft>
                    <a:spcPts val="0"/>
                  </a:spcAft>
                  <a:defRPr/>
                </a:pPr>
                <a:r>
                  <a:rPr lang="vi-VN" altLang="da-DK" sz="1700" dirty="0">
                    <a:solidFill>
                      <a:schemeClr val="tx1">
                        <a:lumMod val="85000"/>
                        <a:lumOff val="15000"/>
                      </a:schemeClr>
                    </a:solidFill>
                    <a:latin typeface="Arial" panose="020B0604020202020204" pitchFamily="34" charset="0"/>
                    <a:sym typeface="+mn-ea"/>
                  </a:rPr>
                  <a:t>Tác động kinh tế</a:t>
                </a:r>
                <a:endParaRPr lang="vi-VN" altLang="da-DK" sz="1700" dirty="0">
                  <a:solidFill>
                    <a:schemeClr val="tx1">
                      <a:lumMod val="85000"/>
                      <a:lumOff val="15000"/>
                    </a:schemeClr>
                  </a:solidFill>
                  <a:latin typeface="Arial" panose="020B0604020202020204" pitchFamily="34" charset="0"/>
                  <a:sym typeface="+mn-ea"/>
                </a:endParaRPr>
              </a:p>
              <a:p>
                <a:pPr algn="l" fontAlgn="auto">
                  <a:lnSpc>
                    <a:spcPct val="150000"/>
                  </a:lnSpc>
                  <a:spcBef>
                    <a:spcPts val="0"/>
                  </a:spcBef>
                  <a:spcAft>
                    <a:spcPts val="0"/>
                  </a:spcAft>
                  <a:defRPr/>
                </a:pPr>
                <a:r>
                  <a:rPr lang="vi-VN" altLang="da-DK" sz="1700" dirty="0">
                    <a:solidFill>
                      <a:schemeClr val="tx1">
                        <a:lumMod val="85000"/>
                        <a:lumOff val="15000"/>
                      </a:schemeClr>
                    </a:solidFill>
                    <a:latin typeface="Arial" panose="020B0604020202020204" pitchFamily="34" charset="0"/>
                    <a:sym typeface="+mn-ea"/>
                  </a:rPr>
                  <a:t>Kỹ năng Data</a:t>
                </a:r>
                <a:endParaRPr lang="vi-VN" altLang="da-DK" sz="1700" dirty="0">
                  <a:solidFill>
                    <a:schemeClr val="tx1">
                      <a:lumMod val="85000"/>
                      <a:lumOff val="15000"/>
                    </a:schemeClr>
                  </a:solidFill>
                  <a:latin typeface="Arial" panose="020B0604020202020204" pitchFamily="34" charset="0"/>
                  <a:sym typeface="+mn-ea"/>
                </a:endParaRPr>
              </a:p>
              <a:p>
                <a:pPr algn="l" fontAlgn="auto">
                  <a:lnSpc>
                    <a:spcPct val="150000"/>
                  </a:lnSpc>
                  <a:spcBef>
                    <a:spcPts val="0"/>
                  </a:spcBef>
                  <a:spcAft>
                    <a:spcPts val="0"/>
                  </a:spcAft>
                  <a:defRPr/>
                </a:pPr>
                <a:endParaRPr lang="vi-VN" altLang="da-DK" sz="1100" dirty="0">
                  <a:solidFill>
                    <a:schemeClr val="tx1">
                      <a:lumMod val="85000"/>
                      <a:lumOff val="15000"/>
                    </a:schemeClr>
                  </a:solidFill>
                  <a:latin typeface="Arial" panose="020B0604020202020204" pitchFamily="34" charset="0"/>
                  <a:sym typeface="+mn-ea"/>
                </a:endParaRPr>
              </a:p>
            </p:txBody>
          </p:sp>
        </p:grpSp>
      </p:grpSp>
      <p:grpSp>
        <p:nvGrpSpPr>
          <p:cNvPr id="18" name="组合 17"/>
          <p:cNvGrpSpPr/>
          <p:nvPr>
            <p:custDataLst>
              <p:tags r:id="rId9"/>
            </p:custDataLst>
          </p:nvPr>
        </p:nvGrpSpPr>
        <p:grpSpPr>
          <a:xfrm>
            <a:off x="1332230" y="4497070"/>
            <a:ext cx="4398645" cy="1000341"/>
            <a:chOff x="2098" y="1827"/>
            <a:chExt cx="6927" cy="1575"/>
          </a:xfrm>
        </p:grpSpPr>
        <p:sp>
          <p:nvSpPr>
            <p:cNvPr id="19" name="对话icon"/>
            <p:cNvSpPr/>
            <p:nvPr>
              <p:custDataLst>
                <p:tags r:id="rId10"/>
              </p:custDataLst>
            </p:nvPr>
          </p:nvSpPr>
          <p:spPr bwMode="auto">
            <a:xfrm>
              <a:off x="2098" y="2373"/>
              <a:ext cx="706" cy="616"/>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gradFill>
              <a:gsLst>
                <a:gs pos="0">
                  <a:srgbClr val="01DADF"/>
                </a:gs>
                <a:gs pos="100000">
                  <a:srgbClr val="2368A4"/>
                </a:gs>
              </a:gsLst>
              <a:lin ang="16200000" scaled="0"/>
            </a:gradFill>
            <a:ln>
              <a:noFill/>
            </a:ln>
          </p:spPr>
          <p:txBody>
            <a:bodyPr/>
            <a:p>
              <a:endParaRPr lang="zh-CN" altLang="en-US"/>
            </a:p>
          </p:txBody>
        </p:sp>
        <p:grpSp>
          <p:nvGrpSpPr>
            <p:cNvPr id="20" name="组合 19"/>
            <p:cNvGrpSpPr/>
            <p:nvPr/>
          </p:nvGrpSpPr>
          <p:grpSpPr>
            <a:xfrm>
              <a:off x="2997" y="1827"/>
              <a:ext cx="6028" cy="1575"/>
              <a:chOff x="6591" y="5496"/>
              <a:chExt cx="5318" cy="1140"/>
            </a:xfrm>
          </p:grpSpPr>
          <p:sp>
            <p:nvSpPr>
              <p:cNvPr id="21" name="文本框 11"/>
              <p:cNvSpPr txBox="1"/>
              <p:nvPr>
                <p:custDataLst>
                  <p:tags r:id="rId11"/>
                </p:custDataLst>
              </p:nvPr>
            </p:nvSpPr>
            <p:spPr>
              <a:xfrm>
                <a:off x="6591" y="5496"/>
                <a:ext cx="4007" cy="630"/>
              </a:xfrm>
              <a:prstGeom prst="rect">
                <a:avLst/>
              </a:prstGeom>
              <a:noFill/>
            </p:spPr>
            <p:txBody>
              <a:bodyPr anchor="ctr"/>
              <a:p>
                <a:pPr algn="l"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AI LÀM </a:t>
                </a:r>
                <a:r>
                  <a:rPr lang="vi-VN" altLang="en-US" sz="2000" b="1" dirty="0">
                    <a:solidFill>
                      <a:schemeClr val="tx1">
                        <a:lumMod val="85000"/>
                        <a:lumOff val="15000"/>
                      </a:schemeClr>
                    </a:solidFill>
                    <a:latin typeface="Arial" panose="020B0604020202020204" pitchFamily="34" charset="0"/>
                    <a:ea typeface="+mn-ea"/>
                    <a:sym typeface="+mn-ea"/>
                  </a:rPr>
                  <a:t>GÌ ?</a:t>
                </a:r>
                <a:endParaRPr lang="vi-VN" altLang="en-US" sz="2000" b="1" dirty="0">
                  <a:solidFill>
                    <a:schemeClr val="tx1">
                      <a:lumMod val="85000"/>
                      <a:lumOff val="15000"/>
                    </a:schemeClr>
                  </a:solidFill>
                  <a:latin typeface="Arial" panose="020B0604020202020204" pitchFamily="34" charset="0"/>
                  <a:ea typeface="+mn-ea"/>
                  <a:sym typeface="+mn-ea"/>
                </a:endParaRPr>
              </a:p>
            </p:txBody>
          </p:sp>
          <p:sp>
            <p:nvSpPr>
              <p:cNvPr id="23" name="文本框 11"/>
              <p:cNvSpPr txBox="1"/>
              <p:nvPr>
                <p:custDataLst>
                  <p:tags r:id="rId12"/>
                </p:custDataLst>
              </p:nvPr>
            </p:nvSpPr>
            <p:spPr>
              <a:xfrm>
                <a:off x="6591" y="5891"/>
                <a:ext cx="5318" cy="745"/>
              </a:xfrm>
              <a:prstGeom prst="rect">
                <a:avLst/>
              </a:prstGeom>
              <a:noFill/>
            </p:spPr>
            <p:txBody>
              <a:bodyPr anchor="ctr">
                <a:normAutofit/>
              </a:bodyPr>
              <a:p>
                <a:pPr algn="l" fontAlgn="auto">
                  <a:lnSpc>
                    <a:spcPct val="150000"/>
                  </a:lnSpc>
                  <a:spcBef>
                    <a:spcPts val="0"/>
                  </a:spcBef>
                  <a:spcAft>
                    <a:spcPts val="0"/>
                  </a:spcAft>
                  <a:defRPr/>
                </a:pPr>
                <a:r>
                  <a:rPr lang="vi-VN" altLang="da-DK" dirty="0">
                    <a:solidFill>
                      <a:schemeClr val="tx1">
                        <a:lumMod val="85000"/>
                        <a:lumOff val="15000"/>
                      </a:schemeClr>
                    </a:solidFill>
                    <a:latin typeface="Arial" panose="020B0604020202020204" pitchFamily="34" charset="0"/>
                    <a:sym typeface="+mn-ea"/>
                  </a:rPr>
                  <a:t>Nhiệm vụ từng thành viên</a:t>
                </a:r>
                <a:r>
                  <a:rPr lang="vi-VN" altLang="da-DK" sz="1200" dirty="0">
                    <a:solidFill>
                      <a:schemeClr val="tx1">
                        <a:lumMod val="85000"/>
                        <a:lumOff val="15000"/>
                      </a:schemeClr>
                    </a:solidFill>
                    <a:latin typeface="Arial" panose="020B0604020202020204" pitchFamily="34" charset="0"/>
                    <a:sym typeface="+mn-ea"/>
                  </a:rPr>
                  <a:t> </a:t>
                </a:r>
                <a:endParaRPr lang="vi-VN" altLang="da-DK" sz="1200" dirty="0">
                  <a:solidFill>
                    <a:schemeClr val="tx1">
                      <a:lumMod val="85000"/>
                      <a:lumOff val="15000"/>
                    </a:schemeClr>
                  </a:solidFill>
                  <a:latin typeface="Arial" panose="020B0604020202020204" pitchFamily="34" charset="0"/>
                  <a:sym typeface="+mn-ea"/>
                </a:endParaRPr>
              </a:p>
            </p:txBody>
          </p:sp>
        </p:grpSp>
      </p:grpSp>
      <p:sp>
        <p:nvSpPr>
          <p:cNvPr id="25" name="文本框 11"/>
          <p:cNvSpPr txBox="1"/>
          <p:nvPr>
            <p:custDataLst>
              <p:tags r:id="rId13"/>
            </p:custDataLst>
          </p:nvPr>
        </p:nvSpPr>
        <p:spPr>
          <a:xfrm>
            <a:off x="6527165" y="1464310"/>
            <a:ext cx="2884170" cy="467995"/>
          </a:xfrm>
          <a:prstGeom prst="rect">
            <a:avLst/>
          </a:prstGeom>
          <a:noFill/>
        </p:spPr>
        <p:txBody>
          <a:bodyPr anchor="ctr"/>
          <a:p>
            <a:pPr algn="l"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QUÁ TRÌNH THỰC </a:t>
            </a:r>
            <a:r>
              <a:rPr lang="vi-VN" altLang="en-US" sz="2000" b="1" dirty="0">
                <a:solidFill>
                  <a:schemeClr val="tx1">
                    <a:lumMod val="85000"/>
                    <a:lumOff val="15000"/>
                  </a:schemeClr>
                </a:solidFill>
                <a:latin typeface="Arial" panose="020B0604020202020204" pitchFamily="34" charset="0"/>
                <a:ea typeface="+mn-ea"/>
                <a:sym typeface="+mn-ea"/>
              </a:rPr>
              <a:t>HIỆN </a:t>
            </a:r>
            <a:endParaRPr lang="vi-VN" altLang="en-US" sz="2000" b="1" dirty="0">
              <a:solidFill>
                <a:schemeClr val="tx1">
                  <a:lumMod val="85000"/>
                  <a:lumOff val="15000"/>
                </a:schemeClr>
              </a:solidFill>
              <a:latin typeface="Arial" panose="020B0604020202020204" pitchFamily="34" charset="0"/>
              <a:ea typeface="+mn-ea"/>
              <a:sym typeface="+mn-ea"/>
            </a:endParaRPr>
          </a:p>
        </p:txBody>
      </p:sp>
      <p:pic>
        <p:nvPicPr>
          <p:cNvPr id="2" name="Picture 1"/>
          <p:cNvPicPr>
            <a:picLocks noChangeAspect="1"/>
          </p:cNvPicPr>
          <p:nvPr/>
        </p:nvPicPr>
        <p:blipFill>
          <a:blip r:embed="rId14"/>
          <a:stretch>
            <a:fillRect/>
          </a:stretch>
        </p:blipFill>
        <p:spPr>
          <a:xfrm>
            <a:off x="5801360" y="2436495"/>
            <a:ext cx="5278755" cy="3618230"/>
          </a:xfrm>
          <a:prstGeom prst="rect">
            <a:avLst/>
          </a:prstGeom>
        </p:spPr>
      </p:pic>
      <p:sp>
        <p:nvSpPr>
          <p:cNvPr id="3" name="对话icon"/>
          <p:cNvSpPr/>
          <p:nvPr>
            <p:custDataLst>
              <p:tags r:id="rId15"/>
            </p:custDataLst>
          </p:nvPr>
        </p:nvSpPr>
        <p:spPr bwMode="auto">
          <a:xfrm>
            <a:off x="5979160" y="1541145"/>
            <a:ext cx="448310" cy="39116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gradFill>
            <a:gsLst>
              <a:gs pos="0">
                <a:srgbClr val="01DADF"/>
              </a:gs>
              <a:gs pos="100000">
                <a:srgbClr val="2368A4"/>
              </a:gs>
            </a:gsLst>
            <a:lin ang="16200000" scaled="0"/>
          </a:gradFill>
          <a:ln>
            <a:noFill/>
          </a:ln>
        </p:spPr>
        <p:txBody>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文本"/>
          <p:cNvSpPr txBox="1"/>
          <p:nvPr/>
        </p:nvSpPr>
        <p:spPr>
          <a:xfrm>
            <a:off x="5472430" y="1186180"/>
            <a:ext cx="6316345" cy="3958590"/>
          </a:xfrm>
          <a:prstGeom prst="rect">
            <a:avLst/>
          </a:prstGeom>
          <a:noFill/>
        </p:spPr>
        <p:txBody>
          <a:bodyPr wrap="square" lIns="90000" tIns="46800" rIns="90000" bIns="46800" rtlCol="0"/>
          <a:p>
            <a:pPr algn="l" fontAlgn="auto">
              <a:lnSpc>
                <a:spcPct val="150000"/>
              </a:lnSpc>
              <a:spcBef>
                <a:spcPts val="0"/>
              </a:spcBef>
              <a:spcAft>
                <a:spcPts val="0"/>
              </a:spcAft>
              <a:defRPr/>
            </a:pPr>
            <a:r>
              <a:rPr lang="vi-VN" altLang="en-US" sz="2200" b="1" dirty="0">
                <a:solidFill>
                  <a:srgbClr val="564E49"/>
                </a:solidFill>
                <a:latin typeface="Times New Roman" panose="02020603050405020304" charset="0"/>
                <a:cs typeface="Times New Roman" panose="02020603050405020304" charset="0"/>
                <a:sym typeface="+mn-ea"/>
              </a:rPr>
              <a:t>Phạm vi nghiên cứu </a:t>
            </a:r>
            <a:endParaRPr lang="vi-VN" altLang="en-US" sz="2200" b="1" dirty="0">
              <a:solidFill>
                <a:srgbClr val="564E49"/>
              </a:solidFill>
              <a:latin typeface="Times New Roman" panose="02020603050405020304" charset="0"/>
              <a:cs typeface="Times New Roman" panose="02020603050405020304" charset="0"/>
              <a:sym typeface="+mn-ea"/>
            </a:endParaRPr>
          </a:p>
          <a:p>
            <a:pPr algn="l" fontAlgn="auto">
              <a:lnSpc>
                <a:spcPct val="150000"/>
              </a:lnSpc>
              <a:spcBef>
                <a:spcPts val="0"/>
              </a:spcBef>
              <a:spcAft>
                <a:spcPts val="0"/>
              </a:spcAft>
              <a:defRPr/>
            </a:pPr>
            <a:r>
              <a:rPr lang="en-US" altLang="en-GB" dirty="0">
                <a:solidFill>
                  <a:srgbClr val="564E49"/>
                </a:solidFill>
                <a:latin typeface="Times New Roman" panose="02020603050405020304" charset="0"/>
                <a:cs typeface="Times New Roman" panose="02020603050405020304" charset="0"/>
                <a:sym typeface="+mn-ea"/>
              </a:rPr>
              <a:t>Bài b</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o c</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o tập trung khai th</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c dữ liệu lịch sử gi</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 x</a:t>
            </a:r>
            <a:r>
              <a:rPr lang="en-US" altLang="en-US" dirty="0">
                <a:solidFill>
                  <a:srgbClr val="564E49"/>
                </a:solidFill>
                <a:latin typeface="Times New Roman" panose="02020603050405020304" charset="0"/>
                <a:cs typeface="Times New Roman" panose="02020603050405020304" charset="0"/>
                <a:sym typeface="+mn-ea"/>
              </a:rPr>
              <a:t>ă</a:t>
            </a:r>
            <a:r>
              <a:rPr lang="en-US" altLang="en-GB" dirty="0">
                <a:solidFill>
                  <a:srgbClr val="564E49"/>
                </a:solidFill>
                <a:latin typeface="Times New Roman" panose="02020603050405020304" charset="0"/>
                <a:cs typeface="Times New Roman" panose="02020603050405020304" charset="0"/>
                <a:sym typeface="+mn-ea"/>
              </a:rPr>
              <a:t>ng dầu Việt Nam trong 5 n</a:t>
            </a:r>
            <a:r>
              <a:rPr lang="en-US" altLang="en-US" dirty="0">
                <a:solidFill>
                  <a:srgbClr val="564E49"/>
                </a:solidFill>
                <a:latin typeface="Times New Roman" panose="02020603050405020304" charset="0"/>
                <a:cs typeface="Times New Roman" panose="02020603050405020304" charset="0"/>
                <a:sym typeface="+mn-ea"/>
              </a:rPr>
              <a:t>ă</a:t>
            </a:r>
            <a:r>
              <a:rPr lang="en-US" altLang="en-GB" dirty="0">
                <a:solidFill>
                  <a:srgbClr val="564E49"/>
                </a:solidFill>
                <a:latin typeface="Times New Roman" panose="02020603050405020304" charset="0"/>
                <a:cs typeface="Times New Roman" panose="02020603050405020304" charset="0"/>
                <a:sym typeface="+mn-ea"/>
              </a:rPr>
              <a:t>m qua. </a:t>
            </a:r>
            <a:r>
              <a:rPr lang="vi-VN" altLang="en-US" dirty="0">
                <a:solidFill>
                  <a:srgbClr val="564E49"/>
                </a:solidFill>
                <a:latin typeface="Times New Roman" panose="02020603050405020304" charset="0"/>
                <a:cs typeface="Times New Roman" panose="02020603050405020304" charset="0"/>
                <a:sym typeface="+mn-ea"/>
              </a:rPr>
              <a:t>T</a:t>
            </a:r>
            <a:r>
              <a:rPr lang="en-US" altLang="en-GB" dirty="0">
                <a:solidFill>
                  <a:srgbClr val="564E49"/>
                </a:solidFill>
                <a:latin typeface="Times New Roman" panose="02020603050405020304" charset="0"/>
                <a:cs typeface="Times New Roman" panose="02020603050405020304" charset="0"/>
                <a:sym typeface="+mn-ea"/>
              </a:rPr>
              <a:t>rả lời c</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c c</a:t>
            </a:r>
            <a:r>
              <a:rPr lang="en-US" altLang="en-US" dirty="0">
                <a:solidFill>
                  <a:srgbClr val="564E49"/>
                </a:solidFill>
                <a:latin typeface="Times New Roman" panose="02020603050405020304" charset="0"/>
                <a:cs typeface="Times New Roman" panose="02020603050405020304" charset="0"/>
                <a:sym typeface="+mn-ea"/>
              </a:rPr>
              <a:t>â</a:t>
            </a:r>
            <a:r>
              <a:rPr lang="en-US" altLang="en-GB" dirty="0">
                <a:solidFill>
                  <a:srgbClr val="564E49"/>
                </a:solidFill>
                <a:latin typeface="Times New Roman" panose="02020603050405020304" charset="0"/>
                <a:cs typeface="Times New Roman" panose="02020603050405020304" charset="0"/>
                <a:sym typeface="+mn-ea"/>
              </a:rPr>
              <a:t>u hỏi:</a:t>
            </a:r>
            <a:endParaRPr lang="en-US" altLang="en-GB" dirty="0">
              <a:solidFill>
                <a:srgbClr val="564E49"/>
              </a:solidFill>
              <a:latin typeface="Times New Roman" panose="02020603050405020304" charset="0"/>
              <a:cs typeface="Times New Roman" panose="02020603050405020304" charset="0"/>
              <a:sym typeface="+mn-ea"/>
            </a:endParaRPr>
          </a:p>
          <a:p>
            <a:pPr marL="342900" indent="-342900" algn="l"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Times New Roman" panose="02020603050405020304" charset="0"/>
                <a:cs typeface="Times New Roman" panose="02020603050405020304" charset="0"/>
                <a:sym typeface="+mn-ea"/>
              </a:rPr>
              <a:t>Sự biến </a:t>
            </a:r>
            <a:r>
              <a:rPr lang="en-US" altLang="en-US" dirty="0">
                <a:solidFill>
                  <a:srgbClr val="564E49"/>
                </a:solidFill>
                <a:latin typeface="Times New Roman" panose="02020603050405020304" charset="0"/>
                <a:cs typeface="Times New Roman" panose="02020603050405020304" charset="0"/>
                <a:sym typeface="+mn-ea"/>
              </a:rPr>
              <a:t>đ</a:t>
            </a:r>
            <a:r>
              <a:rPr lang="en-US" altLang="en-GB" dirty="0">
                <a:solidFill>
                  <a:srgbClr val="564E49"/>
                </a:solidFill>
                <a:latin typeface="Times New Roman" panose="02020603050405020304" charset="0"/>
                <a:cs typeface="Times New Roman" panose="02020603050405020304" charset="0"/>
                <a:sym typeface="+mn-ea"/>
              </a:rPr>
              <a:t>ộng: Gi</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 t</a:t>
            </a:r>
            <a:r>
              <a:rPr lang="en-US" altLang="en-US" dirty="0">
                <a:solidFill>
                  <a:srgbClr val="564E49"/>
                </a:solidFill>
                <a:latin typeface="Times New Roman" panose="02020603050405020304" charset="0"/>
                <a:cs typeface="Times New Roman" panose="02020603050405020304" charset="0"/>
                <a:sym typeface="+mn-ea"/>
              </a:rPr>
              <a:t>ă</a:t>
            </a:r>
            <a:r>
              <a:rPr lang="en-US" altLang="en-GB" dirty="0">
                <a:solidFill>
                  <a:srgbClr val="564E49"/>
                </a:solidFill>
                <a:latin typeface="Times New Roman" panose="02020603050405020304" charset="0"/>
                <a:cs typeface="Times New Roman" panose="02020603050405020304" charset="0"/>
                <a:sym typeface="+mn-ea"/>
              </a:rPr>
              <a:t>ng giảm nh</a:t>
            </a:r>
            <a:r>
              <a:rPr lang="en-US" altLang="en-US" dirty="0">
                <a:solidFill>
                  <a:srgbClr val="564E49"/>
                </a:solidFill>
                <a:latin typeface="Times New Roman" panose="02020603050405020304" charset="0"/>
                <a:cs typeface="Times New Roman" panose="02020603050405020304" charset="0"/>
                <a:sym typeface="+mn-ea"/>
              </a:rPr>
              <a:t>ư</a:t>
            </a:r>
            <a:r>
              <a:rPr lang="en-US" altLang="en-GB" dirty="0">
                <a:solidFill>
                  <a:srgbClr val="564E49"/>
                </a:solidFill>
                <a:latin typeface="Times New Roman" panose="02020603050405020304" charset="0"/>
                <a:cs typeface="Times New Roman" panose="02020603050405020304" charset="0"/>
                <a:sym typeface="+mn-ea"/>
              </a:rPr>
              <a:t> thế nào </a:t>
            </a:r>
            <a:r>
              <a:rPr lang="vi-VN" altLang="en-US" dirty="0">
                <a:solidFill>
                  <a:srgbClr val="564E49"/>
                </a:solidFill>
                <a:latin typeface="Times New Roman" panose="02020603050405020304" charset="0"/>
                <a:cs typeface="Times New Roman" panose="02020603050405020304" charset="0"/>
                <a:sym typeface="+mn-ea"/>
              </a:rPr>
              <a:t>theo từng thời kỳ?</a:t>
            </a:r>
            <a:endParaRPr lang="vi-VN" altLang="en-US" dirty="0">
              <a:solidFill>
                <a:srgbClr val="564E49"/>
              </a:solidFill>
              <a:latin typeface="Times New Roman" panose="02020603050405020304" charset="0"/>
              <a:cs typeface="Times New Roman" panose="02020603050405020304" charset="0"/>
              <a:sym typeface="+mn-ea"/>
            </a:endParaRPr>
          </a:p>
          <a:p>
            <a:pPr marL="342900" indent="-342900" algn="l"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Times New Roman" panose="02020603050405020304" charset="0"/>
                <a:cs typeface="Times New Roman" panose="02020603050405020304" charset="0"/>
                <a:sym typeface="+mn-ea"/>
              </a:rPr>
              <a:t>Sản phẩm</a:t>
            </a:r>
            <a:r>
              <a:rPr lang="vi-VN" altLang="en-US" dirty="0">
                <a:solidFill>
                  <a:srgbClr val="564E49"/>
                </a:solidFill>
                <a:latin typeface="Times New Roman" panose="02020603050405020304" charset="0"/>
                <a:cs typeface="Times New Roman" panose="02020603050405020304" charset="0"/>
                <a:sym typeface="+mn-ea"/>
              </a:rPr>
              <a:t> </a:t>
            </a:r>
            <a:r>
              <a:rPr lang="en-US" altLang="en-GB" dirty="0">
                <a:solidFill>
                  <a:srgbClr val="564E49"/>
                </a:solidFill>
                <a:latin typeface="Times New Roman" panose="02020603050405020304" charset="0"/>
                <a:cs typeface="Times New Roman" panose="02020603050405020304" charset="0"/>
                <a:sym typeface="+mn-ea"/>
              </a:rPr>
              <a:t>: So s</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nh sự ch</a:t>
            </a:r>
            <a:r>
              <a:rPr lang="en-US" altLang="en-US" dirty="0">
                <a:solidFill>
                  <a:srgbClr val="564E49"/>
                </a:solidFill>
                <a:latin typeface="Times New Roman" panose="02020603050405020304" charset="0"/>
                <a:cs typeface="Times New Roman" panose="02020603050405020304" charset="0"/>
                <a:sym typeface="+mn-ea"/>
              </a:rPr>
              <a:t>ê</a:t>
            </a:r>
            <a:r>
              <a:rPr lang="en-US" altLang="en-GB" dirty="0">
                <a:solidFill>
                  <a:srgbClr val="564E49"/>
                </a:solidFill>
                <a:latin typeface="Times New Roman" panose="02020603050405020304" charset="0"/>
                <a:cs typeface="Times New Roman" panose="02020603050405020304" charset="0"/>
                <a:sym typeface="+mn-ea"/>
              </a:rPr>
              <a:t>nh lệch giữa x</a:t>
            </a:r>
            <a:r>
              <a:rPr lang="en-US" altLang="en-US" dirty="0">
                <a:solidFill>
                  <a:srgbClr val="564E49"/>
                </a:solidFill>
                <a:latin typeface="Times New Roman" panose="02020603050405020304" charset="0"/>
                <a:cs typeface="Times New Roman" panose="02020603050405020304" charset="0"/>
                <a:sym typeface="+mn-ea"/>
              </a:rPr>
              <a:t>ă</a:t>
            </a:r>
            <a:r>
              <a:rPr lang="en-US" altLang="en-GB" dirty="0">
                <a:solidFill>
                  <a:srgbClr val="564E49"/>
                </a:solidFill>
                <a:latin typeface="Times New Roman" panose="02020603050405020304" charset="0"/>
                <a:cs typeface="Times New Roman" panose="02020603050405020304" charset="0"/>
                <a:sym typeface="+mn-ea"/>
              </a:rPr>
              <a:t>ng E5, RON 95 và dầu Diesel.</a:t>
            </a:r>
            <a:endParaRPr lang="en-US" altLang="en-GB" dirty="0">
              <a:solidFill>
                <a:srgbClr val="564E49"/>
              </a:solidFill>
              <a:latin typeface="Times New Roman" panose="02020603050405020304" charset="0"/>
              <a:cs typeface="Times New Roman" panose="02020603050405020304" charset="0"/>
              <a:sym typeface="+mn-ea"/>
            </a:endParaRPr>
          </a:p>
          <a:p>
            <a:pPr marL="342900" indent="-342900" algn="l"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Times New Roman" panose="02020603050405020304" charset="0"/>
                <a:cs typeface="Times New Roman" panose="02020603050405020304" charset="0"/>
                <a:sym typeface="+mn-ea"/>
              </a:rPr>
              <a:t>T</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c </a:t>
            </a:r>
            <a:r>
              <a:rPr lang="en-US" altLang="en-US" dirty="0">
                <a:solidFill>
                  <a:srgbClr val="564E49"/>
                </a:solidFill>
                <a:latin typeface="Times New Roman" panose="02020603050405020304" charset="0"/>
                <a:cs typeface="Times New Roman" panose="02020603050405020304" charset="0"/>
                <a:sym typeface="+mn-ea"/>
              </a:rPr>
              <a:t>đ</a:t>
            </a:r>
            <a:r>
              <a:rPr lang="en-US" altLang="en-GB" dirty="0">
                <a:solidFill>
                  <a:srgbClr val="564E49"/>
                </a:solidFill>
                <a:latin typeface="Times New Roman" panose="02020603050405020304" charset="0"/>
                <a:cs typeface="Times New Roman" panose="02020603050405020304" charset="0"/>
                <a:sym typeface="+mn-ea"/>
              </a:rPr>
              <a:t>ộng</a:t>
            </a:r>
            <a:r>
              <a:rPr lang="vi-VN" altLang="en-US" dirty="0">
                <a:solidFill>
                  <a:srgbClr val="564E49"/>
                </a:solidFill>
                <a:latin typeface="Times New Roman" panose="02020603050405020304" charset="0"/>
                <a:cs typeface="Times New Roman" panose="02020603050405020304" charset="0"/>
                <a:sym typeface="+mn-ea"/>
              </a:rPr>
              <a:t> </a:t>
            </a:r>
            <a:r>
              <a:rPr lang="en-US" altLang="en-GB" dirty="0">
                <a:solidFill>
                  <a:srgbClr val="564E49"/>
                </a:solidFill>
                <a:latin typeface="Times New Roman" panose="02020603050405020304" charset="0"/>
                <a:cs typeface="Times New Roman" panose="02020603050405020304" charset="0"/>
                <a:sym typeface="+mn-ea"/>
              </a:rPr>
              <a:t>: Ảnh h</a:t>
            </a:r>
            <a:r>
              <a:rPr lang="en-US" altLang="en-US" dirty="0">
                <a:solidFill>
                  <a:srgbClr val="564E49"/>
                </a:solidFill>
                <a:latin typeface="Times New Roman" panose="02020603050405020304" charset="0"/>
                <a:cs typeface="Times New Roman" panose="02020603050405020304" charset="0"/>
                <a:sym typeface="+mn-ea"/>
              </a:rPr>
              <a:t>ư</a:t>
            </a:r>
            <a:r>
              <a:rPr lang="en-US" altLang="en-GB" dirty="0">
                <a:solidFill>
                  <a:srgbClr val="564E49"/>
                </a:solidFill>
                <a:latin typeface="Times New Roman" panose="02020603050405020304" charset="0"/>
                <a:cs typeface="Times New Roman" panose="02020603050405020304" charset="0"/>
                <a:sym typeface="+mn-ea"/>
              </a:rPr>
              <a:t>ởng của gi</a:t>
            </a:r>
            <a:r>
              <a:rPr lang="en-US" altLang="en-US" dirty="0">
                <a:solidFill>
                  <a:srgbClr val="564E49"/>
                </a:solidFill>
                <a:latin typeface="Times New Roman" panose="02020603050405020304" charset="0"/>
                <a:cs typeface="Times New Roman" panose="02020603050405020304" charset="0"/>
                <a:sym typeface="+mn-ea"/>
              </a:rPr>
              <a:t>á</a:t>
            </a:r>
            <a:r>
              <a:rPr lang="en-US" altLang="en-GB" dirty="0">
                <a:solidFill>
                  <a:srgbClr val="564E49"/>
                </a:solidFill>
                <a:latin typeface="Times New Roman" panose="02020603050405020304" charset="0"/>
                <a:cs typeface="Times New Roman" panose="02020603050405020304" charset="0"/>
                <a:sym typeface="+mn-ea"/>
              </a:rPr>
              <a:t> thế giới tới thị tr</a:t>
            </a:r>
            <a:r>
              <a:rPr lang="en-US" altLang="en-US" dirty="0">
                <a:solidFill>
                  <a:srgbClr val="564E49"/>
                </a:solidFill>
                <a:latin typeface="Times New Roman" panose="02020603050405020304" charset="0"/>
                <a:cs typeface="Times New Roman" panose="02020603050405020304" charset="0"/>
                <a:sym typeface="+mn-ea"/>
              </a:rPr>
              <a:t>ư</a:t>
            </a:r>
            <a:r>
              <a:rPr lang="en-US" altLang="en-GB" dirty="0">
                <a:solidFill>
                  <a:srgbClr val="564E49"/>
                </a:solidFill>
                <a:latin typeface="Times New Roman" panose="02020603050405020304" charset="0"/>
                <a:cs typeface="Times New Roman" panose="02020603050405020304" charset="0"/>
                <a:sym typeface="+mn-ea"/>
              </a:rPr>
              <a:t>ờng nội </a:t>
            </a:r>
            <a:r>
              <a:rPr lang="en-US" altLang="en-US" dirty="0">
                <a:solidFill>
                  <a:srgbClr val="564E49"/>
                </a:solidFill>
                <a:latin typeface="Times New Roman" panose="02020603050405020304" charset="0"/>
                <a:cs typeface="Times New Roman" panose="02020603050405020304" charset="0"/>
                <a:sym typeface="+mn-ea"/>
              </a:rPr>
              <a:t>đ</a:t>
            </a:r>
            <a:r>
              <a:rPr lang="en-US" altLang="en-GB" dirty="0">
                <a:solidFill>
                  <a:srgbClr val="564E49"/>
                </a:solidFill>
                <a:latin typeface="Times New Roman" panose="02020603050405020304" charset="0"/>
                <a:cs typeface="Times New Roman" panose="02020603050405020304" charset="0"/>
                <a:sym typeface="+mn-ea"/>
              </a:rPr>
              <a:t>ịa.</a:t>
            </a:r>
            <a:endParaRPr lang="en-US" altLang="en-GB" dirty="0">
              <a:solidFill>
                <a:srgbClr val="564E49"/>
              </a:solidFill>
              <a:latin typeface="Times New Roman" panose="02020603050405020304" charset="0"/>
              <a:cs typeface="Times New Roman" panose="02020603050405020304" charset="0"/>
              <a:sym typeface="+mn-ea"/>
            </a:endParaRPr>
          </a:p>
          <a:p>
            <a:pPr marL="342900" indent="-342900" algn="l" fontAlgn="auto">
              <a:lnSpc>
                <a:spcPct val="150000"/>
              </a:lnSpc>
              <a:spcBef>
                <a:spcPts val="0"/>
              </a:spcBef>
              <a:spcAft>
                <a:spcPts val="0"/>
              </a:spcAft>
              <a:buFont typeface="Wingdings" panose="05000000000000000000" charset="0"/>
              <a:buChar char="Ø"/>
              <a:defRPr/>
            </a:pPr>
            <a:r>
              <a:rPr lang="vi-VN" altLang="en-US" dirty="0">
                <a:solidFill>
                  <a:srgbClr val="564E49"/>
                </a:solidFill>
                <a:latin typeface="Times New Roman" panose="02020603050405020304" charset="0"/>
                <a:cs typeface="Times New Roman" panose="02020603050405020304" charset="0"/>
                <a:sym typeface="+mn-ea"/>
              </a:rPr>
              <a:t>Hướng phát triển : Có sự biến đổi và thay thế gì trong các năm tới không ?</a:t>
            </a:r>
            <a:endParaRPr lang="vi-VN" altLang="en-US" dirty="0">
              <a:solidFill>
                <a:srgbClr val="564E49"/>
              </a:solidFill>
              <a:latin typeface="Times New Roman" panose="02020603050405020304" charset="0"/>
              <a:cs typeface="Times New Roman" panose="02020603050405020304" charset="0"/>
              <a:sym typeface="+mn-ea"/>
            </a:endParaRPr>
          </a:p>
          <a:p>
            <a:pPr marL="342900" indent="-342900" algn="l" fontAlgn="auto">
              <a:lnSpc>
                <a:spcPct val="150000"/>
              </a:lnSpc>
              <a:spcBef>
                <a:spcPts val="0"/>
              </a:spcBef>
              <a:spcAft>
                <a:spcPts val="0"/>
              </a:spcAft>
              <a:buFont typeface="Wingdings" panose="05000000000000000000" charset="0"/>
              <a:buChar char="Ø"/>
              <a:defRPr/>
            </a:pPr>
            <a:r>
              <a:rPr lang="vi-VN" altLang="en-US" dirty="0">
                <a:solidFill>
                  <a:srgbClr val="564E49"/>
                </a:solidFill>
                <a:latin typeface="Times New Roman" panose="02020603050405020304" charset="0"/>
                <a:cs typeface="Times New Roman" panose="02020603050405020304" charset="0"/>
                <a:sym typeface="+mn-ea"/>
              </a:rPr>
              <a:t>Khó khăn và thách thức trong quá trình phân </a:t>
            </a:r>
            <a:r>
              <a:rPr lang="vi-VN" altLang="en-US" dirty="0">
                <a:solidFill>
                  <a:srgbClr val="564E49"/>
                </a:solidFill>
                <a:latin typeface="Times New Roman" panose="02020603050405020304" charset="0"/>
                <a:cs typeface="Times New Roman" panose="02020603050405020304" charset="0"/>
                <a:sym typeface="+mn-ea"/>
              </a:rPr>
              <a:t>tích ?</a:t>
            </a:r>
            <a:endParaRPr lang="vi-VN" altLang="en-US" dirty="0">
              <a:solidFill>
                <a:srgbClr val="564E49"/>
              </a:solidFill>
              <a:latin typeface="Times New Roman" panose="02020603050405020304" charset="0"/>
              <a:cs typeface="Times New Roman" panose="02020603050405020304" charset="0"/>
              <a:sym typeface="+mn-ea"/>
            </a:endParaRPr>
          </a:p>
        </p:txBody>
      </p:sp>
      <p:sp>
        <p:nvSpPr>
          <p:cNvPr id="4" name="矩形 3"/>
          <p:cNvSpPr/>
          <p:nvPr/>
        </p:nvSpPr>
        <p:spPr>
          <a:xfrm>
            <a:off x="8171815" y="4814570"/>
            <a:ext cx="788670" cy="78867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文本框 11"/>
          <p:cNvSpPr txBox="1"/>
          <p:nvPr>
            <p:custDataLst>
              <p:tags r:id="rId1"/>
            </p:custDataLst>
          </p:nvPr>
        </p:nvSpPr>
        <p:spPr>
          <a:xfrm>
            <a:off x="382905" y="337185"/>
            <a:ext cx="3944620" cy="74358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mn-ea"/>
                <a:cs typeface="Times New Roman" panose="02020603050405020304" charset="0"/>
                <a:sym typeface="+mn-ea"/>
              </a:rPr>
              <a:t>ĐỀ TÀI NÀY LÀM GÌ ?</a:t>
            </a:r>
            <a:endParaRPr lang="vi-VN" altLang="en-US" sz="2800" b="1" dirty="0">
              <a:solidFill>
                <a:srgbClr val="01DADF"/>
              </a:solidFill>
              <a:latin typeface="Times New Roman" panose="02020603050405020304" charset="0"/>
              <a:ea typeface="+mn-ea"/>
              <a:cs typeface="Times New Roman" panose="02020603050405020304" charset="0"/>
              <a:sym typeface="+mn-ea"/>
            </a:endParaRPr>
          </a:p>
        </p:txBody>
      </p:sp>
      <p:pic>
        <p:nvPicPr>
          <p:cNvPr id="2" name="Picture 1"/>
          <p:cNvPicPr/>
          <p:nvPr/>
        </p:nvPicPr>
        <p:blipFill>
          <a:blip r:embed="rId2"/>
          <a:stretch>
            <a:fillRect/>
          </a:stretch>
        </p:blipFill>
        <p:spPr>
          <a:xfrm>
            <a:off x="382905" y="1395095"/>
            <a:ext cx="4838065" cy="40900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custDataLst>
              <p:tags r:id="rId1"/>
            </p:custDataLst>
          </p:nvPr>
        </p:nvSpPr>
        <p:spPr>
          <a:xfrm flipH="1">
            <a:off x="707390" y="1572260"/>
            <a:ext cx="10777855" cy="4474845"/>
          </a:xfrm>
          <a:prstGeom prst="rect">
            <a:avLst/>
          </a:prstGeom>
          <a:noFill/>
          <a:ln w="57150">
            <a:gradFill>
              <a:gsLst>
                <a:gs pos="80000">
                  <a:srgbClr val="2368A4"/>
                </a:gs>
                <a:gs pos="15000">
                  <a:srgbClr val="01DADF"/>
                </a:gs>
              </a:gsLst>
              <a:path path="circle">
                <a:fillToRect l="100000" t="100000"/>
              </a:path>
              <a:tileRect r="-100000" b="-10000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grpSp>
        <p:nvGrpSpPr>
          <p:cNvPr id="7" name="组合 6"/>
          <p:cNvGrpSpPr/>
          <p:nvPr>
            <p:custDataLst>
              <p:tags r:id="rId2"/>
            </p:custDataLst>
          </p:nvPr>
        </p:nvGrpSpPr>
        <p:grpSpPr>
          <a:xfrm>
            <a:off x="989965" y="1036320"/>
            <a:ext cx="3065780" cy="4590415"/>
            <a:chOff x="1032" y="3679"/>
            <a:chExt cx="4828" cy="7229"/>
          </a:xfrm>
        </p:grpSpPr>
        <p:sp>
          <p:nvSpPr>
            <p:cNvPr id="4" name="椭圆 3"/>
            <p:cNvSpPr/>
            <p:nvPr>
              <p:custDataLst>
                <p:tags r:id="rId3"/>
              </p:custDataLst>
            </p:nvPr>
          </p:nvSpPr>
          <p:spPr>
            <a:xfrm>
              <a:off x="2174" y="3679"/>
              <a:ext cx="2544" cy="2544"/>
            </a:xfrm>
            <a:prstGeom prst="ellipse">
              <a:avLst/>
            </a:prstGeom>
            <a:blipFill rotWithShape="1">
              <a:blip r:embed="rId4"/>
            </a:blipFill>
            <a:ln>
              <a:noFill/>
            </a:ln>
            <a:effectLst>
              <a:outerShdw blurRad="101600" sx="102000" sy="102000" algn="ctr" rotWithShape="0">
                <a:srgbClr val="01DAD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3600">
                <a:solidFill>
                  <a:srgbClr val="BCA2EC"/>
                </a:solidFill>
              </a:endParaRPr>
            </a:p>
          </p:txBody>
        </p:sp>
        <p:sp>
          <p:nvSpPr>
            <p:cNvPr id="5" name="文本框 11"/>
            <p:cNvSpPr txBox="1"/>
            <p:nvPr>
              <p:custDataLst>
                <p:tags r:id="rId5"/>
              </p:custDataLst>
            </p:nvPr>
          </p:nvSpPr>
          <p:spPr>
            <a:xfrm>
              <a:off x="1627" y="6488"/>
              <a:ext cx="3638" cy="871"/>
            </a:xfrm>
            <a:prstGeom prst="rect">
              <a:avLst/>
            </a:prstGeom>
            <a:noFill/>
          </p:spPr>
          <p:txBody>
            <a:bodyPr anchor="ctr"/>
            <a:p>
              <a:pPr algn="ctr"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HIỂU XU </a:t>
              </a:r>
              <a:r>
                <a:rPr lang="vi-VN" altLang="en-US" sz="2000" b="1" dirty="0">
                  <a:solidFill>
                    <a:schemeClr val="tx1">
                      <a:lumMod val="85000"/>
                      <a:lumOff val="15000"/>
                    </a:schemeClr>
                  </a:solidFill>
                  <a:latin typeface="Arial" panose="020B0604020202020204" pitchFamily="34" charset="0"/>
                  <a:ea typeface="+mn-ea"/>
                  <a:sym typeface="+mn-ea"/>
                </a:rPr>
                <a:t>HƯỚNG </a:t>
              </a:r>
              <a:endParaRPr lang="vi-VN" altLang="en-US" sz="2000" b="1" dirty="0">
                <a:solidFill>
                  <a:schemeClr val="tx1">
                    <a:lumMod val="85000"/>
                    <a:lumOff val="15000"/>
                  </a:schemeClr>
                </a:solidFill>
                <a:latin typeface="Arial" panose="020B0604020202020204" pitchFamily="34" charset="0"/>
                <a:ea typeface="+mn-ea"/>
                <a:sym typeface="+mn-ea"/>
              </a:endParaRPr>
            </a:p>
          </p:txBody>
        </p:sp>
        <p:sp>
          <p:nvSpPr>
            <p:cNvPr id="8" name="文本框 11"/>
            <p:cNvSpPr txBox="1"/>
            <p:nvPr>
              <p:custDataLst>
                <p:tags r:id="rId6"/>
              </p:custDataLst>
            </p:nvPr>
          </p:nvSpPr>
          <p:spPr>
            <a:xfrm>
              <a:off x="1032" y="7167"/>
              <a:ext cx="4828" cy="3741"/>
            </a:xfrm>
            <a:prstGeom prst="rect">
              <a:avLst/>
            </a:prstGeom>
            <a:noFill/>
          </p:spPr>
          <p:txBody>
            <a:bodyPr anchor="ctr">
              <a:normAutofit/>
            </a:bodyPr>
            <a:p>
              <a:pPr algn="ctr" fontAlgn="auto">
                <a:lnSpc>
                  <a:spcPct val="150000"/>
                </a:lnSpc>
                <a:spcBef>
                  <a:spcPts val="0"/>
                </a:spcBef>
                <a:spcAft>
                  <a:spcPts val="0"/>
                </a:spcAft>
                <a:defRPr/>
              </a:pPr>
              <a:endParaRPr lang="da-DK" altLang="zh-CN" sz="1200" dirty="0">
                <a:solidFill>
                  <a:schemeClr val="tx1">
                    <a:lumMod val="85000"/>
                    <a:lumOff val="15000"/>
                  </a:schemeClr>
                </a:solidFill>
                <a:latin typeface="Arial" panose="020B0604020202020204" pitchFamily="34" charset="0"/>
                <a:ea typeface="+mn-ea"/>
                <a:sym typeface="+mn-ea"/>
              </a:endParaRPr>
            </a:p>
          </p:txBody>
        </p:sp>
      </p:grpSp>
      <p:grpSp>
        <p:nvGrpSpPr>
          <p:cNvPr id="9" name="组合 8"/>
          <p:cNvGrpSpPr/>
          <p:nvPr>
            <p:custDataLst>
              <p:tags r:id="rId7"/>
            </p:custDataLst>
          </p:nvPr>
        </p:nvGrpSpPr>
        <p:grpSpPr>
          <a:xfrm>
            <a:off x="4626610" y="1036320"/>
            <a:ext cx="2657475" cy="2336800"/>
            <a:chOff x="1243" y="3679"/>
            <a:chExt cx="4185" cy="3680"/>
          </a:xfrm>
        </p:grpSpPr>
        <p:sp>
          <p:nvSpPr>
            <p:cNvPr id="10" name="椭圆 9"/>
            <p:cNvSpPr/>
            <p:nvPr>
              <p:custDataLst>
                <p:tags r:id="rId8"/>
              </p:custDataLst>
            </p:nvPr>
          </p:nvSpPr>
          <p:spPr>
            <a:xfrm>
              <a:off x="2174" y="3679"/>
              <a:ext cx="2544" cy="2544"/>
            </a:xfrm>
            <a:prstGeom prst="ellipse">
              <a:avLst/>
            </a:prstGeom>
            <a:blipFill rotWithShape="1">
              <a:blip r:embed="rId4"/>
            </a:blipFill>
            <a:ln>
              <a:noFill/>
            </a:ln>
            <a:effectLst>
              <a:outerShdw blurRad="101600" sx="102000" sy="102000" algn="ctr" rotWithShape="0">
                <a:srgbClr val="01DAD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3600">
                <a:solidFill>
                  <a:srgbClr val="BCA2EC"/>
                </a:solidFill>
              </a:endParaRPr>
            </a:p>
          </p:txBody>
        </p:sp>
        <p:sp>
          <p:nvSpPr>
            <p:cNvPr id="11" name="文本框 11"/>
            <p:cNvSpPr txBox="1"/>
            <p:nvPr>
              <p:custDataLst>
                <p:tags r:id="rId9"/>
              </p:custDataLst>
            </p:nvPr>
          </p:nvSpPr>
          <p:spPr>
            <a:xfrm>
              <a:off x="1243" y="6488"/>
              <a:ext cx="4185" cy="871"/>
            </a:xfrm>
            <a:prstGeom prst="rect">
              <a:avLst/>
            </a:prstGeom>
            <a:noFill/>
          </p:spPr>
          <p:txBody>
            <a:bodyPr anchor="ctr"/>
            <a:p>
              <a:pPr algn="ctr"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ea typeface="+mn-ea"/>
                  <a:sym typeface="+mn-ea"/>
                </a:rPr>
                <a:t>TÁC ĐỘNG KINH </a:t>
              </a:r>
              <a:r>
                <a:rPr lang="vi-VN" altLang="en-US" sz="2000" b="1" dirty="0">
                  <a:solidFill>
                    <a:schemeClr val="tx1">
                      <a:lumMod val="85000"/>
                      <a:lumOff val="15000"/>
                    </a:schemeClr>
                  </a:solidFill>
                  <a:latin typeface="Arial" panose="020B0604020202020204" pitchFamily="34" charset="0"/>
                  <a:ea typeface="+mn-ea"/>
                  <a:sym typeface="+mn-ea"/>
                </a:rPr>
                <a:t>TẾ</a:t>
              </a:r>
              <a:endParaRPr lang="vi-VN" altLang="en-US" sz="2000" b="1" dirty="0">
                <a:solidFill>
                  <a:schemeClr val="tx1">
                    <a:lumMod val="85000"/>
                    <a:lumOff val="15000"/>
                  </a:schemeClr>
                </a:solidFill>
                <a:latin typeface="Arial" panose="020B0604020202020204" pitchFamily="34" charset="0"/>
                <a:ea typeface="+mn-ea"/>
                <a:sym typeface="+mn-ea"/>
              </a:endParaRPr>
            </a:p>
          </p:txBody>
        </p:sp>
      </p:grpSp>
      <p:grpSp>
        <p:nvGrpSpPr>
          <p:cNvPr id="14" name="组合 13"/>
          <p:cNvGrpSpPr/>
          <p:nvPr>
            <p:custDataLst>
              <p:tags r:id="rId10"/>
            </p:custDataLst>
          </p:nvPr>
        </p:nvGrpSpPr>
        <p:grpSpPr>
          <a:xfrm>
            <a:off x="8373110" y="1036320"/>
            <a:ext cx="2310130" cy="2336800"/>
            <a:chOff x="1627" y="3679"/>
            <a:chExt cx="3638" cy="3680"/>
          </a:xfrm>
        </p:grpSpPr>
        <p:sp>
          <p:nvSpPr>
            <p:cNvPr id="15" name="椭圆 14"/>
            <p:cNvSpPr/>
            <p:nvPr>
              <p:custDataLst>
                <p:tags r:id="rId11"/>
              </p:custDataLst>
            </p:nvPr>
          </p:nvSpPr>
          <p:spPr>
            <a:xfrm>
              <a:off x="2174" y="3679"/>
              <a:ext cx="2544" cy="2544"/>
            </a:xfrm>
            <a:prstGeom prst="ellipse">
              <a:avLst/>
            </a:prstGeom>
            <a:blipFill rotWithShape="1">
              <a:blip r:embed="rId4"/>
            </a:blipFill>
            <a:ln>
              <a:noFill/>
            </a:ln>
            <a:effectLst>
              <a:outerShdw blurRad="101600" sx="102000" sy="102000" algn="ctr" rotWithShape="0">
                <a:srgbClr val="01DAD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3600">
                <a:solidFill>
                  <a:srgbClr val="BCA2EC"/>
                </a:solidFill>
              </a:endParaRPr>
            </a:p>
          </p:txBody>
        </p:sp>
        <p:sp>
          <p:nvSpPr>
            <p:cNvPr id="16" name="文本框 11"/>
            <p:cNvSpPr txBox="1"/>
            <p:nvPr>
              <p:custDataLst>
                <p:tags r:id="rId12"/>
              </p:custDataLst>
            </p:nvPr>
          </p:nvSpPr>
          <p:spPr>
            <a:xfrm>
              <a:off x="1627" y="6488"/>
              <a:ext cx="3638" cy="871"/>
            </a:xfrm>
            <a:prstGeom prst="rect">
              <a:avLst/>
            </a:prstGeom>
            <a:noFill/>
          </p:spPr>
          <p:txBody>
            <a:bodyPr anchor="ctr"/>
            <a:p>
              <a:pPr algn="ctr" fontAlgn="auto">
                <a:spcBef>
                  <a:spcPts val="0"/>
                </a:spcBef>
                <a:spcAft>
                  <a:spcPts val="0"/>
                </a:spcAft>
                <a:defRPr/>
              </a:pPr>
              <a:r>
                <a:rPr lang="vi-VN" altLang="en-US" sz="2000" b="1" dirty="0">
                  <a:solidFill>
                    <a:schemeClr val="tx1">
                      <a:lumMod val="85000"/>
                      <a:lumOff val="15000"/>
                    </a:schemeClr>
                  </a:solidFill>
                  <a:latin typeface="Arial" panose="020B0604020202020204" pitchFamily="34" charset="0"/>
                  <a:sym typeface="+mn-ea"/>
                </a:rPr>
                <a:t>KỸ NĂNG </a:t>
              </a:r>
              <a:r>
                <a:rPr lang="vi-VN" altLang="en-US" sz="2000" b="1" dirty="0">
                  <a:solidFill>
                    <a:schemeClr val="tx1">
                      <a:lumMod val="85000"/>
                      <a:lumOff val="15000"/>
                    </a:schemeClr>
                  </a:solidFill>
                  <a:latin typeface="Arial" panose="020B0604020202020204" pitchFamily="34" charset="0"/>
                  <a:sym typeface="+mn-ea"/>
                </a:rPr>
                <a:t>DATA</a:t>
              </a:r>
              <a:endParaRPr lang="vi-VN" altLang="en-US" sz="2000" b="1" dirty="0">
                <a:solidFill>
                  <a:schemeClr val="tx1">
                    <a:lumMod val="85000"/>
                    <a:lumOff val="15000"/>
                  </a:schemeClr>
                </a:solidFill>
                <a:latin typeface="Arial" panose="020B0604020202020204" pitchFamily="34" charset="0"/>
                <a:sym typeface="+mn-ea"/>
              </a:endParaRPr>
            </a:p>
          </p:txBody>
        </p:sp>
      </p:grpSp>
      <p:sp>
        <p:nvSpPr>
          <p:cNvPr id="3" name="Text Box 2"/>
          <p:cNvSpPr txBox="1"/>
          <p:nvPr/>
        </p:nvSpPr>
        <p:spPr>
          <a:xfrm>
            <a:off x="632460" y="248285"/>
            <a:ext cx="6096000" cy="521970"/>
          </a:xfrm>
          <a:prstGeom prst="rect">
            <a:avLst/>
          </a:prstGeom>
          <a:noFill/>
        </p:spPr>
        <p:txBody>
          <a:bodyPr wrap="square" rtlCol="0" anchor="t">
            <a:spAutoFit/>
          </a:bodyPr>
          <a:p>
            <a:pPr algn="l" fontAlgn="auto">
              <a:spcBef>
                <a:spcPts val="0"/>
              </a:spcBef>
              <a:spcAft>
                <a:spcPts val="0"/>
              </a:spcAft>
              <a:defRPr/>
            </a:pPr>
            <a:r>
              <a:rPr lang="vi-VN" altLang="en-US" sz="2800" b="1" dirty="0">
                <a:solidFill>
                  <a:srgbClr val="01DADF"/>
                </a:solidFill>
                <a:latin typeface="Times New Roman" panose="02020603050405020304" charset="0"/>
                <a:cs typeface="Times New Roman" panose="02020603050405020304" charset="0"/>
                <a:sym typeface="+mn-ea"/>
              </a:rPr>
              <a:t>ĐỂ LÀM GÌ ?</a:t>
            </a:r>
            <a:endParaRPr lang="vi-VN" altLang="en-US" sz="2800" b="1" dirty="0">
              <a:solidFill>
                <a:srgbClr val="01DADF"/>
              </a:solidFill>
              <a:latin typeface="Times New Roman" panose="02020603050405020304" charset="0"/>
              <a:cs typeface="Times New Roman" panose="02020603050405020304" charset="0"/>
              <a:sym typeface="+mn-ea"/>
            </a:endParaRPr>
          </a:p>
        </p:txBody>
      </p:sp>
      <p:pic>
        <p:nvPicPr>
          <p:cNvPr id="6" name="Picture 5"/>
          <p:cNvPicPr>
            <a:picLocks noChangeAspect="1"/>
          </p:cNvPicPr>
          <p:nvPr/>
        </p:nvPicPr>
        <p:blipFill>
          <a:blip r:embed="rId13"/>
          <a:stretch>
            <a:fillRect/>
          </a:stretch>
        </p:blipFill>
        <p:spPr>
          <a:xfrm>
            <a:off x="1243330" y="3373120"/>
            <a:ext cx="2671445" cy="1550670"/>
          </a:xfrm>
          <a:prstGeom prst="rect">
            <a:avLst/>
          </a:prstGeom>
        </p:spPr>
      </p:pic>
      <p:pic>
        <p:nvPicPr>
          <p:cNvPr id="18" name="Picture 17"/>
          <p:cNvPicPr>
            <a:picLocks noChangeAspect="1"/>
          </p:cNvPicPr>
          <p:nvPr/>
        </p:nvPicPr>
        <p:blipFill>
          <a:blip r:embed="rId14"/>
          <a:stretch>
            <a:fillRect/>
          </a:stretch>
        </p:blipFill>
        <p:spPr>
          <a:xfrm>
            <a:off x="4627245" y="3528695"/>
            <a:ext cx="3213100" cy="1391920"/>
          </a:xfrm>
          <a:prstGeom prst="rect">
            <a:avLst/>
          </a:prstGeom>
        </p:spPr>
      </p:pic>
      <p:pic>
        <p:nvPicPr>
          <p:cNvPr id="19" name="Picture 18"/>
          <p:cNvPicPr>
            <a:picLocks noChangeAspect="1"/>
          </p:cNvPicPr>
          <p:nvPr/>
        </p:nvPicPr>
        <p:blipFill>
          <a:blip r:embed="rId15"/>
          <a:stretch>
            <a:fillRect/>
          </a:stretch>
        </p:blipFill>
        <p:spPr>
          <a:xfrm>
            <a:off x="8359140" y="3541395"/>
            <a:ext cx="2635885" cy="13823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0" y="6391275"/>
            <a:ext cx="12255500" cy="467360"/>
          </a:xfrm>
          <a:prstGeom prst="rect">
            <a:avLst/>
          </a:prstGeom>
          <a:gradFill>
            <a:gsLst>
              <a:gs pos="0">
                <a:srgbClr val="01DADF"/>
              </a:gs>
              <a:gs pos="100000">
                <a:srgbClr val="2368A4"/>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文本框 11"/>
          <p:cNvSpPr txBox="1"/>
          <p:nvPr>
            <p:custDataLst>
              <p:tags r:id="rId1"/>
            </p:custDataLst>
          </p:nvPr>
        </p:nvSpPr>
        <p:spPr>
          <a:xfrm>
            <a:off x="335280" y="243840"/>
            <a:ext cx="7635240" cy="68262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mn-ea"/>
                <a:cs typeface="Times New Roman" panose="02020603050405020304" charset="0"/>
                <a:sym typeface="+mn-ea"/>
              </a:rPr>
              <a:t>NHIỆM VỤ TỪNG THÀNH VIÊN</a:t>
            </a:r>
            <a:r>
              <a:rPr lang="vi-VN" altLang="en-US" sz="3600" b="1" dirty="0">
                <a:solidFill>
                  <a:srgbClr val="01DADF"/>
                </a:solidFill>
                <a:latin typeface="Times New Roman" panose="02020603050405020304" charset="0"/>
                <a:ea typeface="+mn-ea"/>
                <a:cs typeface="Times New Roman" panose="02020603050405020304" charset="0"/>
                <a:sym typeface="+mn-ea"/>
              </a:rPr>
              <a:t> </a:t>
            </a:r>
            <a:endParaRPr lang="vi-VN" altLang="en-US" sz="3600" b="1" dirty="0">
              <a:solidFill>
                <a:srgbClr val="01DADF"/>
              </a:solidFill>
              <a:latin typeface="Times New Roman" panose="02020603050405020304" charset="0"/>
              <a:ea typeface="+mn-ea"/>
              <a:cs typeface="Times New Roman" panose="02020603050405020304" charset="0"/>
              <a:sym typeface="+mn-ea"/>
            </a:endParaRPr>
          </a:p>
        </p:txBody>
      </p:sp>
      <p:graphicFrame>
        <p:nvGraphicFramePr>
          <p:cNvPr id="3" name="Table 2"/>
          <p:cNvGraphicFramePr/>
          <p:nvPr>
            <p:custDataLst>
              <p:tags r:id="rId2"/>
            </p:custDataLst>
          </p:nvPr>
        </p:nvGraphicFramePr>
        <p:xfrm>
          <a:off x="1254760" y="1209040"/>
          <a:ext cx="5118100" cy="4808220"/>
        </p:xfrm>
        <a:graphic>
          <a:graphicData uri="http://schemas.openxmlformats.org/drawingml/2006/table">
            <a:tbl>
              <a:tblPr firstRow="1" bandRow="1">
                <a:tableStyleId>{5C22544A-7EE6-4342-B048-85BDC9FD1C3A}</a:tableStyleId>
              </a:tblPr>
              <a:tblGrid>
                <a:gridCol w="2646680"/>
                <a:gridCol w="2471420"/>
              </a:tblGrid>
              <a:tr h="595630">
                <a:tc>
                  <a:txBody>
                    <a:bodyPr/>
                    <a:p>
                      <a:pPr algn="ctr">
                        <a:buNone/>
                      </a:pPr>
                      <a:r>
                        <a:rPr lang="vi-VN" altLang="en-GB">
                          <a:solidFill>
                            <a:srgbClr val="2368A4"/>
                          </a:solidFill>
                        </a:rPr>
                        <a:t>TÊN </a:t>
                      </a:r>
                      <a:endParaRPr lang="vi-VN" altLang="en-GB">
                        <a:solidFill>
                          <a:srgbClr val="2368A4"/>
                        </a:solidFill>
                      </a:endParaRPr>
                    </a:p>
                  </a:txBody>
                  <a:tcPr>
                    <a:solidFill>
                      <a:srgbClr val="01DADF"/>
                    </a:solidFill>
                  </a:tcPr>
                </a:tc>
                <a:tc>
                  <a:txBody>
                    <a:bodyPr/>
                    <a:p>
                      <a:pPr algn="ctr">
                        <a:buNone/>
                      </a:pPr>
                      <a:r>
                        <a:rPr lang="vi-VN" altLang="en-GB">
                          <a:solidFill>
                            <a:srgbClr val="2368A4"/>
                          </a:solidFill>
                        </a:rPr>
                        <a:t>NHIỆM VỤ</a:t>
                      </a:r>
                      <a:endParaRPr lang="vi-VN" altLang="en-GB">
                        <a:solidFill>
                          <a:srgbClr val="2368A4"/>
                        </a:solidFill>
                      </a:endParaRPr>
                    </a:p>
                  </a:txBody>
                  <a:tcPr>
                    <a:solidFill>
                      <a:srgbClr val="01DADF"/>
                    </a:solidFill>
                  </a:tcPr>
                </a:tc>
              </a:tr>
              <a:tr h="594995">
                <a:tc>
                  <a:txBody>
                    <a:bodyPr/>
                    <a:p>
                      <a:pPr>
                        <a:buNone/>
                      </a:pPr>
                      <a:r>
                        <a:rPr lang="vi-VN" altLang="en-GB"/>
                        <a:t>Nguyễn Thu </a:t>
                      </a:r>
                      <a:r>
                        <a:rPr lang="vi-VN" altLang="en-GB"/>
                        <a:t>Thảo</a:t>
                      </a:r>
                      <a:endParaRPr lang="vi-VN" altLang="en-GB"/>
                    </a:p>
                  </a:txBody>
                  <a:tcPr/>
                </a:tc>
                <a:tc>
                  <a:txBody>
                    <a:bodyPr/>
                    <a:p>
                      <a:pPr>
                        <a:buNone/>
                      </a:pPr>
                      <a:r>
                        <a:rPr lang="vi-VN" altLang="en-GB"/>
                        <a:t>Thu thập dữ </a:t>
                      </a:r>
                      <a:r>
                        <a:rPr lang="vi-VN" altLang="en-GB"/>
                        <a:t>liệu </a:t>
                      </a:r>
                      <a:endParaRPr lang="vi-VN" altLang="en-GB"/>
                    </a:p>
                  </a:txBody>
                  <a:tcPr/>
                </a:tc>
              </a:tr>
              <a:tr h="596265">
                <a:tc>
                  <a:txBody>
                    <a:bodyPr/>
                    <a:p>
                      <a:pPr>
                        <a:buNone/>
                      </a:pPr>
                      <a:r>
                        <a:rPr lang="vi-VN" altLang="en-GB"/>
                        <a:t>Hoàng Thị </a:t>
                      </a:r>
                      <a:r>
                        <a:rPr lang="vi-VN" altLang="en-GB"/>
                        <a:t>Quyến</a:t>
                      </a:r>
                      <a:endParaRPr lang="vi-VN" altLang="en-GB"/>
                    </a:p>
                  </a:txBody>
                  <a:tcPr/>
                </a:tc>
                <a:tc>
                  <a:txBody>
                    <a:bodyPr/>
                    <a:p>
                      <a:pPr>
                        <a:buNone/>
                      </a:pPr>
                      <a:r>
                        <a:rPr lang="vi-VN" altLang="en-GB"/>
                        <a:t>Trực quan hóa </a:t>
                      </a:r>
                      <a:r>
                        <a:rPr lang="vi-VN" altLang="en-GB"/>
                        <a:t>biểu </a:t>
                      </a:r>
                      <a:endParaRPr lang="vi-VN" altLang="en-GB"/>
                    </a:p>
                  </a:txBody>
                  <a:tcPr/>
                </a:tc>
              </a:tr>
              <a:tr h="594995">
                <a:tc>
                  <a:txBody>
                    <a:bodyPr/>
                    <a:p>
                      <a:pPr>
                        <a:buNone/>
                      </a:pPr>
                      <a:r>
                        <a:rPr lang="vi-VN" altLang="en-GB"/>
                        <a:t>Dương Quang </a:t>
                      </a:r>
                      <a:r>
                        <a:rPr lang="vi-VN" altLang="en-GB"/>
                        <a:t>Minh</a:t>
                      </a:r>
                      <a:endParaRPr lang="vi-VN" altLang="en-GB"/>
                    </a:p>
                  </a:txBody>
                  <a:tcPr/>
                </a:tc>
                <a:tc>
                  <a:txBody>
                    <a:bodyPr/>
                    <a:p>
                      <a:pPr>
                        <a:buNone/>
                      </a:pPr>
                      <a:r>
                        <a:rPr lang="vi-VN" altLang="en-GB"/>
                        <a:t>Xử lý dữ </a:t>
                      </a:r>
                      <a:r>
                        <a:rPr lang="vi-VN" altLang="en-GB"/>
                        <a:t>liệu</a:t>
                      </a:r>
                      <a:endParaRPr lang="vi-VN" altLang="en-GB"/>
                    </a:p>
                  </a:txBody>
                  <a:tcPr/>
                </a:tc>
              </a:tr>
              <a:tr h="595630">
                <a:tc>
                  <a:txBody>
                    <a:bodyPr/>
                    <a:p>
                      <a:pPr>
                        <a:buNone/>
                      </a:pPr>
                      <a:r>
                        <a:rPr lang="vi-VN" altLang="en-GB"/>
                        <a:t>Phạm Duy Tiến </a:t>
                      </a:r>
                      <a:r>
                        <a:rPr lang="vi-VN" altLang="en-GB"/>
                        <a:t>Minh</a:t>
                      </a:r>
                      <a:endParaRPr lang="vi-VN" altLang="en-GB"/>
                    </a:p>
                  </a:txBody>
                  <a:tcPr/>
                </a:tc>
                <a:tc>
                  <a:txBody>
                    <a:bodyPr/>
                    <a:p>
                      <a:pPr>
                        <a:buNone/>
                      </a:pPr>
                      <a:r>
                        <a:rPr lang="vi-VN" altLang="en-GB"/>
                        <a:t>Xử lý </a:t>
                      </a:r>
                      <a:r>
                        <a:rPr lang="vi-VN" altLang="en-GB"/>
                        <a:t>Python</a:t>
                      </a:r>
                      <a:endParaRPr lang="vi-VN" altLang="en-GB"/>
                    </a:p>
                  </a:txBody>
                  <a:tcPr/>
                </a:tc>
              </a:tr>
              <a:tr h="594995">
                <a:tc>
                  <a:txBody>
                    <a:bodyPr/>
                    <a:p>
                      <a:pPr>
                        <a:buNone/>
                      </a:pPr>
                      <a:r>
                        <a:rPr lang="vi-VN" altLang="en-GB"/>
                        <a:t>Nguyễn Giang </a:t>
                      </a:r>
                      <a:r>
                        <a:rPr lang="vi-VN" altLang="en-GB"/>
                        <a:t>Long</a:t>
                      </a:r>
                      <a:endParaRPr lang="vi-VN" altLang="en-GB"/>
                    </a:p>
                  </a:txBody>
                  <a:tcPr/>
                </a:tc>
                <a:tc>
                  <a:txBody>
                    <a:bodyPr/>
                    <a:p>
                      <a:pPr>
                        <a:buNone/>
                      </a:pPr>
                      <a:r>
                        <a:rPr lang="vi-VN" altLang="en-GB"/>
                        <a:t>Xử lý </a:t>
                      </a:r>
                      <a:r>
                        <a:rPr lang="vi-VN" altLang="en-GB"/>
                        <a:t>Pyspark</a:t>
                      </a:r>
                      <a:endParaRPr lang="vi-VN" altLang="en-GB"/>
                    </a:p>
                  </a:txBody>
                  <a:tcPr/>
                </a:tc>
              </a:tr>
              <a:tr h="595630">
                <a:tc>
                  <a:txBody>
                    <a:bodyPr/>
                    <a:p>
                      <a:pPr>
                        <a:buNone/>
                      </a:pPr>
                      <a:r>
                        <a:rPr lang="vi-VN" altLang="en-GB"/>
                        <a:t>Lương Quốc </a:t>
                      </a:r>
                      <a:r>
                        <a:rPr lang="vi-VN" altLang="en-GB"/>
                        <a:t>Đệ </a:t>
                      </a:r>
                      <a:endParaRPr lang="vi-VN" altLang="en-GB"/>
                    </a:p>
                  </a:txBody>
                  <a:tcPr/>
                </a:tc>
                <a:tc>
                  <a:txBody>
                    <a:bodyPr/>
                    <a:p>
                      <a:pPr>
                        <a:buNone/>
                      </a:pPr>
                      <a:r>
                        <a:rPr lang="vi-VN" altLang="en-GB"/>
                        <a:t>Báo cáo,thuyết </a:t>
                      </a:r>
                      <a:r>
                        <a:rPr lang="vi-VN" altLang="en-GB"/>
                        <a:t>trình</a:t>
                      </a:r>
                      <a:endParaRPr lang="vi-VN" altLang="en-GB"/>
                    </a:p>
                  </a:txBody>
                  <a:tcPr/>
                </a:tc>
              </a:tr>
              <a:tr h="588010">
                <a:tc>
                  <a:txBody>
                    <a:bodyPr/>
                    <a:p>
                      <a:pPr>
                        <a:buNone/>
                      </a:pPr>
                      <a:r>
                        <a:rPr lang="vi-VN" altLang="en-GB" sz="1800">
                          <a:sym typeface="+mn-ea"/>
                        </a:rPr>
                        <a:t>Nguyễn Thị Hằng Nga</a:t>
                      </a:r>
                      <a:endParaRPr lang="vi-VN" altLang="en-GB" sz="1800"/>
                    </a:p>
                    <a:p>
                      <a:pPr>
                        <a:buNone/>
                      </a:pPr>
                      <a:endParaRPr lang="vi-VN" altLang="en-GB"/>
                    </a:p>
                  </a:txBody>
                  <a:tcPr/>
                </a:tc>
                <a:tc>
                  <a:txBody>
                    <a:bodyPr/>
                    <a:p>
                      <a:pPr>
                        <a:buNone/>
                      </a:pPr>
                      <a:r>
                        <a:rPr lang="vi-VN" altLang="en-GB"/>
                        <a:t>Slide </a:t>
                      </a:r>
                      <a:endParaRPr lang="vi-VN" altLang="en-GB"/>
                    </a:p>
                  </a:txBody>
                  <a:tcPr/>
                </a:tc>
              </a:tr>
            </a:tbl>
          </a:graphicData>
        </a:graphic>
      </p:graphicFrame>
      <p:sp>
        <p:nvSpPr>
          <p:cNvPr id="4" name="Rounded Rectangle 3"/>
          <p:cNvSpPr/>
          <p:nvPr/>
        </p:nvSpPr>
        <p:spPr>
          <a:xfrm>
            <a:off x="7458710" y="2393950"/>
            <a:ext cx="3660775" cy="2069465"/>
          </a:xfrm>
          <a:prstGeom prst="roundRect">
            <a:avLst/>
          </a:prstGeom>
          <a:solidFill>
            <a:srgbClr val="01DAD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vi-VN" altLang="en-GB" b="1">
                <a:solidFill>
                  <a:srgbClr val="2368A4"/>
                </a:solidFill>
              </a:rPr>
              <a:t>PHỐI HỢP NHÓM</a:t>
            </a:r>
            <a:endParaRPr lang="vi-VN" altLang="en-GB" b="1">
              <a:solidFill>
                <a:srgbClr val="2368A4"/>
              </a:solidFill>
            </a:endParaRPr>
          </a:p>
          <a:p>
            <a:pPr algn="ctr"/>
            <a:endParaRPr lang="vi-VN" altLang="en-GB">
              <a:solidFill>
                <a:srgbClr val="2368A4"/>
              </a:solidFill>
            </a:endParaRPr>
          </a:p>
          <a:p>
            <a:pPr algn="ctr"/>
            <a:r>
              <a:rPr lang="vi-VN" altLang="en-GB">
                <a:solidFill>
                  <a:schemeClr val="tx1"/>
                </a:solidFill>
              </a:rPr>
              <a:t>Sử dụng github quản lý code và Zalo để trao đổi công việc </a:t>
            </a:r>
            <a:endParaRPr lang="vi-VN" altLang="en-GB">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文本框 11"/>
          <p:cNvSpPr txBox="1"/>
          <p:nvPr>
            <p:custDataLst>
              <p:tags r:id="rId1"/>
            </p:custDataLst>
          </p:nvPr>
        </p:nvSpPr>
        <p:spPr>
          <a:xfrm>
            <a:off x="511175" y="353060"/>
            <a:ext cx="5057140" cy="68262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Roboto" charset="0"/>
                <a:cs typeface="Times New Roman" panose="02020603050405020304" charset="0"/>
                <a:sym typeface="Roboto" charset="0"/>
              </a:rPr>
              <a:t>QÚA TRÌNH THỰC HIỆN</a:t>
            </a:r>
            <a:endParaRPr lang="vi-VN" altLang="en-US" sz="2800" b="1" dirty="0">
              <a:solidFill>
                <a:srgbClr val="01DADF"/>
              </a:solidFill>
              <a:latin typeface="Times New Roman" panose="02020603050405020304" charset="0"/>
              <a:ea typeface="Roboto" charset="0"/>
              <a:cs typeface="Times New Roman" panose="02020603050405020304" charset="0"/>
              <a:sym typeface="Roboto" charset="0"/>
            </a:endParaRPr>
          </a:p>
        </p:txBody>
      </p:sp>
      <p:sp>
        <p:nvSpPr>
          <p:cNvPr id="4" name="矩形 3"/>
          <p:cNvSpPr/>
          <p:nvPr/>
        </p:nvSpPr>
        <p:spPr>
          <a:xfrm>
            <a:off x="6381115" y="4433570"/>
            <a:ext cx="788670" cy="78867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1"/>
          <p:cNvSpPr txBox="1"/>
          <p:nvPr>
            <p:custDataLst>
              <p:tags r:id="rId2"/>
            </p:custDataLst>
          </p:nvPr>
        </p:nvSpPr>
        <p:spPr>
          <a:xfrm>
            <a:off x="7312660" y="4501515"/>
            <a:ext cx="3955415" cy="652780"/>
          </a:xfrm>
          <a:prstGeom prst="rect">
            <a:avLst/>
          </a:prstGeom>
          <a:noFill/>
        </p:spPr>
        <p:txBody>
          <a:bodyPr anchor="ctr">
            <a:normAutofit/>
          </a:bodyPr>
          <a:p>
            <a:pPr algn="l" fontAlgn="auto">
              <a:lnSpc>
                <a:spcPct val="150000"/>
              </a:lnSpc>
              <a:spcBef>
                <a:spcPts val="0"/>
              </a:spcBef>
              <a:spcAft>
                <a:spcPts val="0"/>
              </a:spcAft>
              <a:defRPr/>
            </a:pPr>
            <a:r>
              <a:rPr lang="da-DK" altLang="zh-CN" sz="1200" dirty="0">
                <a:solidFill>
                  <a:schemeClr val="bg1"/>
                </a:solidFill>
                <a:latin typeface="Arial" panose="020B0604020202020204" pitchFamily="34" charset="0"/>
                <a:sym typeface="+mn-ea"/>
              </a:rPr>
              <a:t>Enter or copy and paste the text you need</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I want to give you the best service</a:t>
            </a:r>
            <a:endParaRPr lang="da-DK" altLang="zh-CN" sz="1200" dirty="0">
              <a:solidFill>
                <a:schemeClr val="bg1"/>
              </a:solidFill>
              <a:latin typeface="Arial" panose="020B0604020202020204" pitchFamily="34" charset="0"/>
              <a:ea typeface="+mn-ea"/>
              <a:sym typeface="+mn-ea"/>
            </a:endParaRPr>
          </a:p>
        </p:txBody>
      </p:sp>
      <p:sp>
        <p:nvSpPr>
          <p:cNvPr id="10" name="对话icon"/>
          <p:cNvSpPr/>
          <p:nvPr/>
        </p:nvSpPr>
        <p:spPr bwMode="auto">
          <a:xfrm>
            <a:off x="6551295" y="4632325"/>
            <a:ext cx="448310" cy="39116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p>
            <a:endParaRPr lang="zh-CN" altLang="en-US"/>
          </a:p>
        </p:txBody>
      </p:sp>
      <p:sp>
        <p:nvSpPr>
          <p:cNvPr id="11" name="矩形 10"/>
          <p:cNvSpPr/>
          <p:nvPr/>
        </p:nvSpPr>
        <p:spPr>
          <a:xfrm>
            <a:off x="6381115" y="5450840"/>
            <a:ext cx="788670" cy="788670"/>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1"/>
          <p:cNvSpPr txBox="1"/>
          <p:nvPr>
            <p:custDataLst>
              <p:tags r:id="rId3"/>
            </p:custDataLst>
          </p:nvPr>
        </p:nvSpPr>
        <p:spPr>
          <a:xfrm>
            <a:off x="7312660" y="5518785"/>
            <a:ext cx="3955415" cy="652780"/>
          </a:xfrm>
          <a:prstGeom prst="rect">
            <a:avLst/>
          </a:prstGeom>
          <a:noFill/>
        </p:spPr>
        <p:txBody>
          <a:bodyPr anchor="ctr">
            <a:normAutofit/>
          </a:bodyPr>
          <a:p>
            <a:pPr algn="l" fontAlgn="auto">
              <a:lnSpc>
                <a:spcPct val="150000"/>
              </a:lnSpc>
              <a:spcBef>
                <a:spcPts val="0"/>
              </a:spcBef>
              <a:spcAft>
                <a:spcPts val="0"/>
              </a:spcAft>
              <a:defRPr/>
            </a:pPr>
            <a:r>
              <a:rPr lang="da-DK" altLang="zh-CN" sz="1200" dirty="0">
                <a:solidFill>
                  <a:schemeClr val="bg1"/>
                </a:solidFill>
                <a:latin typeface="Arial" panose="020B0604020202020204" pitchFamily="34" charset="0"/>
                <a:sym typeface="+mn-ea"/>
              </a:rPr>
              <a:t>Enter or copy and paste the text you need</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I want to give you the best service</a:t>
            </a:r>
            <a:endParaRPr lang="da-DK" altLang="zh-CN" sz="1200" dirty="0">
              <a:solidFill>
                <a:schemeClr val="bg1"/>
              </a:solidFill>
              <a:latin typeface="Arial" panose="020B0604020202020204" pitchFamily="34" charset="0"/>
              <a:ea typeface="+mn-ea"/>
              <a:sym typeface="+mn-ea"/>
            </a:endParaRPr>
          </a:p>
        </p:txBody>
      </p:sp>
      <p:sp>
        <p:nvSpPr>
          <p:cNvPr id="15" name="对话icon"/>
          <p:cNvSpPr/>
          <p:nvPr/>
        </p:nvSpPr>
        <p:spPr bwMode="auto">
          <a:xfrm>
            <a:off x="6551295" y="5649595"/>
            <a:ext cx="448310" cy="39116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p>
            <a:endParaRPr lang="zh-CN" altLang="en-US"/>
          </a:p>
        </p:txBody>
      </p:sp>
      <p:pic>
        <p:nvPicPr>
          <p:cNvPr id="2" name="Picture 1"/>
          <p:cNvPicPr>
            <a:picLocks noChangeAspect="1"/>
          </p:cNvPicPr>
          <p:nvPr/>
        </p:nvPicPr>
        <p:blipFill>
          <a:blip r:embed="rId4"/>
          <a:stretch>
            <a:fillRect/>
          </a:stretch>
        </p:blipFill>
        <p:spPr>
          <a:xfrm>
            <a:off x="603885" y="2321560"/>
            <a:ext cx="11003915" cy="26282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488305" y="1443990"/>
            <a:ext cx="5842000" cy="4201795"/>
          </a:xfrm>
          <a:prstGeom prst="rect">
            <a:avLst/>
          </a:prstGeom>
          <a:solidFill>
            <a:schemeClr val="bg1"/>
          </a:solidFill>
          <a:ln>
            <a:noFill/>
          </a:ln>
          <a:effectLst>
            <a:outerShdw blurRad="127000" dist="127000" dir="2700000" algn="tl" rotWithShape="0">
              <a:srgbClr val="2368A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文本框 11"/>
          <p:cNvSpPr txBox="1"/>
          <p:nvPr>
            <p:custDataLst>
              <p:tags r:id="rId1"/>
            </p:custDataLst>
          </p:nvPr>
        </p:nvSpPr>
        <p:spPr>
          <a:xfrm>
            <a:off x="337185" y="302260"/>
            <a:ext cx="4282440" cy="68262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mn-ea"/>
                <a:cs typeface="Times New Roman" panose="02020603050405020304" charset="0"/>
                <a:sym typeface="+mn-ea"/>
              </a:rPr>
              <a:t>XỬ LÝ DỮ LIỆU THÔ</a:t>
            </a:r>
            <a:endParaRPr lang="vi-VN" altLang="en-US" sz="2800" b="1" dirty="0">
              <a:solidFill>
                <a:srgbClr val="01DADF"/>
              </a:solidFill>
              <a:latin typeface="Times New Roman" panose="02020603050405020304" charset="0"/>
              <a:ea typeface="+mn-ea"/>
              <a:cs typeface="Times New Roman" panose="02020603050405020304" charset="0"/>
              <a:sym typeface="+mn-ea"/>
            </a:endParaRPr>
          </a:p>
        </p:txBody>
      </p:sp>
      <p:sp>
        <p:nvSpPr>
          <p:cNvPr id="20" name="文本"/>
          <p:cNvSpPr txBox="1"/>
          <p:nvPr/>
        </p:nvSpPr>
        <p:spPr>
          <a:xfrm>
            <a:off x="5840730" y="1775460"/>
            <a:ext cx="4890135" cy="2037080"/>
          </a:xfrm>
          <a:prstGeom prst="rect">
            <a:avLst/>
          </a:prstGeom>
          <a:noFill/>
        </p:spPr>
        <p:txBody>
          <a:bodyPr wrap="square" lIns="90000" tIns="46800" rIns="90000" bIns="46800" rtlCol="0"/>
          <a:p>
            <a:pPr algn="l" fontAlgn="auto">
              <a:lnSpc>
                <a:spcPct val="150000"/>
              </a:lnSpc>
              <a:spcBef>
                <a:spcPts val="0"/>
              </a:spcBef>
              <a:spcAft>
                <a:spcPts val="0"/>
              </a:spcAft>
              <a:defRPr/>
            </a:pPr>
            <a:r>
              <a:rPr lang="en-US" altLang="en-GB" sz="2000" b="1" dirty="0">
                <a:solidFill>
                  <a:srgbClr val="564E49"/>
                </a:solidFill>
                <a:latin typeface="Arial" panose="020B0604020202020204" pitchFamily="34" charset="0"/>
                <a:sym typeface="+mn-ea"/>
              </a:rPr>
              <a:t>Làm sạch &amp; Chuẩn h</a:t>
            </a:r>
            <a:r>
              <a:rPr lang="en-US" altLang="en-US" sz="2000" b="1" dirty="0">
                <a:solidFill>
                  <a:srgbClr val="564E49"/>
                </a:solidFill>
                <a:latin typeface="Arial" panose="020B0604020202020204" pitchFamily="34" charset="0"/>
                <a:sym typeface="+mn-ea"/>
              </a:rPr>
              <a:t>ó</a:t>
            </a:r>
            <a:r>
              <a:rPr lang="en-US" altLang="en-GB" sz="2000" b="1" dirty="0">
                <a:solidFill>
                  <a:srgbClr val="564E49"/>
                </a:solidFill>
                <a:latin typeface="Arial" panose="020B0604020202020204" pitchFamily="34" charset="0"/>
                <a:sym typeface="+mn-ea"/>
              </a:rPr>
              <a:t>a</a:t>
            </a:r>
            <a:endParaRPr lang="en-US" altLang="en-GB" sz="2000" b="1"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r>
              <a:rPr lang="en-US" altLang="en-GB" dirty="0">
                <a:solidFill>
                  <a:srgbClr val="564E49"/>
                </a:solidFill>
                <a:latin typeface="Arial" panose="020B0604020202020204" pitchFamily="34" charset="0"/>
                <a:sym typeface="+mn-ea"/>
              </a:rPr>
              <a:t>Dữ liệu thô th</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ờng chứa nhiều lỗi </a:t>
            </a: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ịnh dạng từ c</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c trang tin tức:</a:t>
            </a:r>
            <a:endParaRPr lang="en-US" altLang="en-GB" dirty="0">
              <a:solidFill>
                <a:srgbClr val="564E49"/>
              </a:solidFill>
              <a:latin typeface="Arial" panose="020B0604020202020204" pitchFamily="34" charset="0"/>
              <a:sym typeface="+mn-ea"/>
            </a:endParaRPr>
          </a:p>
          <a:p>
            <a:pPr marL="285750" indent="-285750" algn="l"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Arial" panose="020B0604020202020204" pitchFamily="34" charset="0"/>
                <a:sym typeface="+mn-ea"/>
              </a:rPr>
              <a:t>X</a:t>
            </a:r>
            <a:r>
              <a:rPr lang="en-US" altLang="en-US" dirty="0">
                <a:solidFill>
                  <a:srgbClr val="564E49"/>
                </a:solidFill>
                <a:latin typeface="Arial" panose="020B0604020202020204" pitchFamily="34" charset="0"/>
                <a:sym typeface="+mn-ea"/>
              </a:rPr>
              <a:t>ó</a:t>
            </a:r>
            <a:r>
              <a:rPr lang="en-US" altLang="en-GB" dirty="0">
                <a:solidFill>
                  <a:srgbClr val="564E49"/>
                </a:solidFill>
                <a:latin typeface="Arial" panose="020B0604020202020204" pitchFamily="34" charset="0"/>
                <a:sym typeface="+mn-ea"/>
              </a:rPr>
              <a:t>a dữ liệu lỗi: Loại bỏ c</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c gi</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 trị </a:t>
            </a:r>
            <a:r>
              <a:rPr lang="en-US" altLang="en-US" dirty="0">
                <a:solidFill>
                  <a:srgbClr val="564E49"/>
                </a:solidFill>
                <a:latin typeface="Arial" panose="020B0604020202020204" pitchFamily="34" charset="0"/>
                <a:sym typeface="+mn-ea"/>
              </a:rPr>
              <a:t>â</a:t>
            </a:r>
            <a:r>
              <a:rPr lang="en-US" altLang="en-GB" dirty="0">
                <a:solidFill>
                  <a:srgbClr val="564E49"/>
                </a:solidFill>
                <a:latin typeface="Arial" panose="020B0604020202020204" pitchFamily="34" charset="0"/>
                <a:sym typeface="+mn-ea"/>
              </a:rPr>
              <a:t>m hoặc v</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ợt ng</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ỡng vô l</a:t>
            </a:r>
            <a:r>
              <a:rPr lang="en-US" altLang="en-US" dirty="0">
                <a:solidFill>
                  <a:srgbClr val="564E49"/>
                </a:solidFill>
                <a:latin typeface="Arial" panose="020B0604020202020204" pitchFamily="34" charset="0"/>
                <a:sym typeface="+mn-ea"/>
              </a:rPr>
              <a:t>ý</a:t>
            </a:r>
            <a:r>
              <a:rPr lang="en-US" altLang="en-GB" dirty="0">
                <a:solidFill>
                  <a:srgbClr val="564E49"/>
                </a:solidFill>
                <a:latin typeface="Arial" panose="020B0604020202020204" pitchFamily="34" charset="0"/>
                <a:sym typeface="+mn-ea"/>
              </a:rPr>
              <a:t>.</a:t>
            </a:r>
            <a:endParaRPr lang="en-US" altLang="en-GB" dirty="0">
              <a:solidFill>
                <a:srgbClr val="564E49"/>
              </a:solidFill>
              <a:latin typeface="Arial" panose="020B0604020202020204" pitchFamily="34" charset="0"/>
              <a:sym typeface="+mn-ea"/>
            </a:endParaRPr>
          </a:p>
          <a:p>
            <a:pPr marL="285750" indent="-285750" algn="l" fontAlgn="auto">
              <a:lnSpc>
                <a:spcPct val="150000"/>
              </a:lnSpc>
              <a:spcBef>
                <a:spcPts val="0"/>
              </a:spcBef>
              <a:spcAft>
                <a:spcPts val="0"/>
              </a:spcAft>
              <a:buFont typeface="Wingdings" panose="05000000000000000000" charset="0"/>
              <a:buChar char="Ø"/>
              <a:defRPr/>
            </a:pP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ịnh dạng ngày: </a:t>
            </a:r>
            <a:r>
              <a:rPr lang="en-US" altLang="en-US" dirty="0">
                <a:solidFill>
                  <a:srgbClr val="564E49"/>
                </a:solidFill>
                <a:latin typeface="Arial" panose="020B0604020202020204" pitchFamily="34" charset="0"/>
                <a:sym typeface="+mn-ea"/>
              </a:rPr>
              <a:t>Đư</a:t>
            </a:r>
            <a:r>
              <a:rPr lang="en-US" altLang="en-GB" dirty="0">
                <a:solidFill>
                  <a:srgbClr val="564E49"/>
                </a:solidFill>
                <a:latin typeface="Arial" panose="020B0604020202020204" pitchFamily="34" charset="0"/>
                <a:sym typeface="+mn-ea"/>
              </a:rPr>
              <a:t>a về chuẩn ISO YYYY-MM-DD </a:t>
            </a: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ể vẽ biểu </a:t>
            </a: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ồ.</a:t>
            </a:r>
            <a:endParaRPr lang="en-US" altLang="en-GB" dirty="0">
              <a:solidFill>
                <a:srgbClr val="564E49"/>
              </a:solidFill>
              <a:latin typeface="Arial" panose="020B0604020202020204" pitchFamily="34" charset="0"/>
              <a:sym typeface="+mn-ea"/>
            </a:endParaRPr>
          </a:p>
          <a:p>
            <a:pPr marL="285750" indent="-285750" algn="l"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Arial" panose="020B0604020202020204" pitchFamily="34" charset="0"/>
                <a:sym typeface="+mn-ea"/>
              </a:rPr>
              <a:t>Xử l</a:t>
            </a:r>
            <a:r>
              <a:rPr lang="en-US" altLang="en-US" dirty="0">
                <a:solidFill>
                  <a:srgbClr val="564E49"/>
                </a:solidFill>
                <a:latin typeface="Arial" panose="020B0604020202020204" pitchFamily="34" charset="0"/>
                <a:sym typeface="+mn-ea"/>
              </a:rPr>
              <a:t>ý</a:t>
            </a:r>
            <a:r>
              <a:rPr lang="en-US" altLang="en-GB" dirty="0">
                <a:solidFill>
                  <a:srgbClr val="564E49"/>
                </a:solidFill>
                <a:latin typeface="Arial" panose="020B0604020202020204" pitchFamily="34" charset="0"/>
                <a:sym typeface="+mn-ea"/>
              </a:rPr>
              <a:t> Null: Sử dụng ph</a:t>
            </a:r>
            <a:r>
              <a:rPr lang="en-US" altLang="en-US" dirty="0">
                <a:solidFill>
                  <a:srgbClr val="564E49"/>
                </a:solidFill>
                <a:latin typeface="Arial" panose="020B0604020202020204" pitchFamily="34" charset="0"/>
                <a:sym typeface="+mn-ea"/>
              </a:rPr>
              <a:t>ư</a:t>
            </a:r>
            <a:r>
              <a:rPr lang="en-US" altLang="en-US" dirty="0">
                <a:solidFill>
                  <a:srgbClr val="564E49"/>
                </a:solidFill>
                <a:latin typeface="Arial" panose="020B0604020202020204" pitchFamily="34" charset="0"/>
                <a:sym typeface="+mn-ea"/>
              </a:rPr>
              <a:t>ơ</a:t>
            </a:r>
            <a:r>
              <a:rPr lang="en-US" altLang="en-GB" dirty="0">
                <a:solidFill>
                  <a:srgbClr val="564E49"/>
                </a:solidFill>
                <a:latin typeface="Arial" panose="020B0604020202020204" pitchFamily="34" charset="0"/>
                <a:sym typeface="+mn-ea"/>
              </a:rPr>
              <a:t>ng ph</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p nội suy (Interpolation) cho c</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c ô trống.</a:t>
            </a:r>
            <a:endParaRPr lang="en-US" altLang="en-GB" dirty="0">
              <a:solidFill>
                <a:srgbClr val="564E49"/>
              </a:solidFill>
              <a:latin typeface="Arial" panose="020B0604020202020204" pitchFamily="34" charset="0"/>
              <a:sym typeface="+mn-ea"/>
            </a:endParaRPr>
          </a:p>
        </p:txBody>
      </p:sp>
      <p:sp>
        <p:nvSpPr>
          <p:cNvPr id="22" name="文本框 11"/>
          <p:cNvSpPr txBox="1"/>
          <p:nvPr>
            <p:custDataLst>
              <p:tags r:id="rId2"/>
            </p:custDataLst>
          </p:nvPr>
        </p:nvSpPr>
        <p:spPr>
          <a:xfrm>
            <a:off x="1033145" y="4119880"/>
            <a:ext cx="2310130" cy="553085"/>
          </a:xfrm>
          <a:prstGeom prst="rect">
            <a:avLst/>
          </a:prstGeom>
          <a:noFill/>
        </p:spPr>
        <p:txBody>
          <a:bodyPr anchor="ctr"/>
          <a:p>
            <a:pPr algn="ctr" fontAlgn="auto">
              <a:spcBef>
                <a:spcPts val="0"/>
              </a:spcBef>
              <a:spcAft>
                <a:spcPts val="0"/>
              </a:spcAft>
              <a:defRPr/>
            </a:pPr>
            <a:r>
              <a:rPr lang="en-US" sz="2000" b="1" dirty="0">
                <a:solidFill>
                  <a:schemeClr val="tx1">
                    <a:lumMod val="85000"/>
                    <a:lumOff val="15000"/>
                  </a:schemeClr>
                </a:solidFill>
                <a:latin typeface="Arial" panose="020B0604020202020204" pitchFamily="34" charset="0"/>
                <a:sym typeface="+mn-ea"/>
              </a:rPr>
              <a:t>T</a:t>
            </a:r>
            <a:r>
              <a:rPr lang="en-US" altLang="da-DK" sz="2000" b="1" dirty="0">
                <a:solidFill>
                  <a:schemeClr val="tx1">
                    <a:lumMod val="85000"/>
                    <a:lumOff val="15000"/>
                  </a:schemeClr>
                </a:solidFill>
                <a:latin typeface="Arial" panose="020B0604020202020204" pitchFamily="34" charset="0"/>
                <a:sym typeface="+mn-ea"/>
              </a:rPr>
              <a:t>itle Here</a:t>
            </a:r>
            <a:endParaRPr lang="en-US" altLang="da-DK" sz="2000" b="1" dirty="0">
              <a:solidFill>
                <a:schemeClr val="tx1">
                  <a:lumMod val="85000"/>
                  <a:lumOff val="15000"/>
                </a:schemeClr>
              </a:solidFill>
              <a:latin typeface="Arial" panose="020B0604020202020204" pitchFamily="34" charset="0"/>
              <a:ea typeface="+mn-ea"/>
              <a:sym typeface="+mn-ea"/>
            </a:endParaRPr>
          </a:p>
        </p:txBody>
      </p:sp>
      <p:pic>
        <p:nvPicPr>
          <p:cNvPr id="4" name="Picture 3"/>
          <p:cNvPicPr/>
          <p:nvPr/>
        </p:nvPicPr>
        <p:blipFill>
          <a:blip r:embed="rId3"/>
          <a:stretch>
            <a:fillRect/>
          </a:stretch>
        </p:blipFill>
        <p:spPr>
          <a:xfrm>
            <a:off x="580390" y="1553210"/>
            <a:ext cx="3618230" cy="3982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文本框 11"/>
          <p:cNvSpPr txBox="1"/>
          <p:nvPr>
            <p:custDataLst>
              <p:tags r:id="rId1"/>
            </p:custDataLst>
          </p:nvPr>
        </p:nvSpPr>
        <p:spPr>
          <a:xfrm>
            <a:off x="550545" y="1496060"/>
            <a:ext cx="5593715" cy="1128395"/>
          </a:xfrm>
          <a:prstGeom prst="rect">
            <a:avLst/>
          </a:prstGeom>
          <a:noFill/>
        </p:spPr>
        <p:txBody>
          <a:bodyPr anchor="ctr">
            <a:normAutofit/>
          </a:bodyPr>
          <a:p>
            <a:pPr algn="l" fontAlgn="auto">
              <a:lnSpc>
                <a:spcPct val="150000"/>
              </a:lnSpc>
              <a:spcBef>
                <a:spcPts val="0"/>
              </a:spcBef>
              <a:spcAft>
                <a:spcPts val="0"/>
              </a:spcAft>
              <a:defRPr/>
            </a:pPr>
            <a:endParaRPr lang="en-US" altLang="da-DK" sz="1200" dirty="0">
              <a:solidFill>
                <a:srgbClr val="564E49"/>
              </a:solidFill>
              <a:latin typeface="Arial" panose="020B0604020202020204" pitchFamily="34" charset="0"/>
              <a:ea typeface="+mn-ea"/>
              <a:sym typeface="+mn-ea"/>
            </a:endParaRPr>
          </a:p>
        </p:txBody>
      </p:sp>
      <p:sp>
        <p:nvSpPr>
          <p:cNvPr id="13" name="文本框 11"/>
          <p:cNvSpPr txBox="1"/>
          <p:nvPr>
            <p:custDataLst>
              <p:tags r:id="rId2"/>
            </p:custDataLst>
          </p:nvPr>
        </p:nvSpPr>
        <p:spPr>
          <a:xfrm>
            <a:off x="7108190" y="4140200"/>
            <a:ext cx="1783715" cy="400050"/>
          </a:xfrm>
          <a:prstGeom prst="rect">
            <a:avLst/>
          </a:prstGeom>
          <a:noFill/>
        </p:spPr>
        <p:txBody>
          <a:bodyPr anchor="ctr"/>
          <a:p>
            <a:pPr algn="l" fontAlgn="auto">
              <a:spcBef>
                <a:spcPts val="0"/>
              </a:spcBef>
              <a:spcAft>
                <a:spcPts val="0"/>
              </a:spcAft>
              <a:defRPr/>
            </a:pPr>
            <a:r>
              <a:rPr lang="en-US" sz="2000" b="1" dirty="0">
                <a:solidFill>
                  <a:schemeClr val="bg1"/>
                </a:solidFill>
                <a:latin typeface="Arial" panose="020B0604020202020204" pitchFamily="34" charset="0"/>
                <a:sym typeface="+mn-ea"/>
              </a:rPr>
              <a:t>T</a:t>
            </a:r>
            <a:r>
              <a:rPr lang="en-US" altLang="da-DK" sz="2000" b="1" dirty="0">
                <a:solidFill>
                  <a:schemeClr val="bg1"/>
                </a:solidFill>
                <a:latin typeface="Arial" panose="020B0604020202020204" pitchFamily="34" charset="0"/>
                <a:sym typeface="+mn-ea"/>
              </a:rPr>
              <a:t>itle Here</a:t>
            </a:r>
            <a:endParaRPr lang="en-US" altLang="da-DK" sz="2000" b="1" dirty="0">
              <a:solidFill>
                <a:schemeClr val="bg1"/>
              </a:solidFill>
              <a:latin typeface="Arial" panose="020B0604020202020204" pitchFamily="34" charset="0"/>
              <a:ea typeface="+mn-ea"/>
              <a:sym typeface="+mn-ea"/>
            </a:endParaRPr>
          </a:p>
        </p:txBody>
      </p:sp>
      <p:sp>
        <p:nvSpPr>
          <p:cNvPr id="14" name="文本框 11"/>
          <p:cNvSpPr txBox="1"/>
          <p:nvPr>
            <p:custDataLst>
              <p:tags r:id="rId3"/>
            </p:custDataLst>
          </p:nvPr>
        </p:nvSpPr>
        <p:spPr>
          <a:xfrm>
            <a:off x="7108190" y="4451985"/>
            <a:ext cx="4638675" cy="1647190"/>
          </a:xfrm>
          <a:prstGeom prst="rect">
            <a:avLst/>
          </a:prstGeom>
          <a:noFill/>
        </p:spPr>
        <p:txBody>
          <a:bodyPr anchor="ctr">
            <a:normAutofit lnSpcReduction="20000"/>
          </a:bodyPr>
          <a:p>
            <a:pPr algn="l" fontAlgn="auto">
              <a:lnSpc>
                <a:spcPct val="150000"/>
              </a:lnSpc>
              <a:spcBef>
                <a:spcPts val="0"/>
              </a:spcBef>
              <a:spcAft>
                <a:spcPts val="0"/>
              </a:spcAft>
              <a:defRPr/>
            </a:pPr>
            <a:r>
              <a:rPr lang="da-DK" altLang="zh-CN" sz="1200" dirty="0">
                <a:solidFill>
                  <a:schemeClr val="bg1"/>
                </a:solidFill>
                <a:latin typeface="Arial" panose="020B0604020202020204" pitchFamily="34" charset="0"/>
                <a:sym typeface="+mn-ea"/>
              </a:rPr>
              <a:t>Enter or copy and paste the text you need</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I want to give you the best service</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Enter or copy and paste the text you need</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I want to give you the best service</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Enter or copy and paste the text you need</a:t>
            </a:r>
            <a:r>
              <a:rPr lang="en-US" altLang="da-DK" sz="1200" dirty="0">
                <a:solidFill>
                  <a:schemeClr val="bg1"/>
                </a:solidFill>
                <a:latin typeface="Arial" panose="020B0604020202020204" pitchFamily="34" charset="0"/>
                <a:sym typeface="+mn-ea"/>
              </a:rPr>
              <a:t>.</a:t>
            </a:r>
            <a:r>
              <a:rPr lang="da-DK" altLang="zh-CN" sz="1200" dirty="0">
                <a:solidFill>
                  <a:schemeClr val="bg1"/>
                </a:solidFill>
                <a:latin typeface="Arial" panose="020B0604020202020204" pitchFamily="34" charset="0"/>
                <a:sym typeface="+mn-ea"/>
              </a:rPr>
              <a:t>I want to give you the best service</a:t>
            </a:r>
            <a:r>
              <a:rPr lang="en-US" altLang="da-DK" sz="1200" dirty="0">
                <a:solidFill>
                  <a:schemeClr val="bg1"/>
                </a:solidFill>
                <a:latin typeface="Arial" panose="020B0604020202020204" pitchFamily="34" charset="0"/>
                <a:sym typeface="+mn-ea"/>
              </a:rPr>
              <a:t>.</a:t>
            </a:r>
            <a:endParaRPr lang="en-US" altLang="da-DK" sz="1200" dirty="0">
              <a:solidFill>
                <a:schemeClr val="bg1"/>
              </a:solidFill>
              <a:latin typeface="Arial" panose="020B0604020202020204" pitchFamily="34" charset="0"/>
              <a:ea typeface="+mn-ea"/>
              <a:sym typeface="+mn-ea"/>
            </a:endParaRPr>
          </a:p>
        </p:txBody>
      </p:sp>
      <p:pic>
        <p:nvPicPr>
          <p:cNvPr id="3" name="Picture 2"/>
          <p:cNvPicPr>
            <a:picLocks noChangeAspect="1"/>
          </p:cNvPicPr>
          <p:nvPr/>
        </p:nvPicPr>
        <p:blipFill>
          <a:blip r:embed="rId4"/>
          <a:stretch>
            <a:fillRect/>
          </a:stretch>
        </p:blipFill>
        <p:spPr>
          <a:xfrm>
            <a:off x="734695" y="328930"/>
            <a:ext cx="10723245" cy="61995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3515" y="228600"/>
            <a:ext cx="7347585" cy="521970"/>
          </a:xfrm>
          <a:prstGeom prst="rect">
            <a:avLst/>
          </a:prstGeom>
          <a:noFill/>
        </p:spPr>
        <p:txBody>
          <a:bodyPr wrap="square" rtlCol="0" anchor="t">
            <a:spAutoFit/>
          </a:bodyPr>
          <a:p>
            <a:pPr algn="l" fontAlgn="auto">
              <a:spcBef>
                <a:spcPts val="0"/>
              </a:spcBef>
              <a:spcAft>
                <a:spcPts val="0"/>
              </a:spcAft>
              <a:defRPr/>
            </a:pPr>
            <a:r>
              <a:rPr lang="vi-VN" altLang="en-US" sz="2800" b="1" dirty="0">
                <a:solidFill>
                  <a:srgbClr val="01DADF"/>
                </a:solidFill>
                <a:latin typeface="Times New Roman" panose="02020603050405020304" charset="0"/>
                <a:cs typeface="Times New Roman" panose="02020603050405020304" charset="0"/>
                <a:sym typeface="+mn-ea"/>
              </a:rPr>
              <a:t>SO SÁNH CÁC LOẠI NGUYÊN </a:t>
            </a:r>
            <a:r>
              <a:rPr lang="vi-VN" altLang="en-US" sz="2800" b="1" dirty="0">
                <a:solidFill>
                  <a:srgbClr val="01DADF"/>
                </a:solidFill>
                <a:latin typeface="Times New Roman" panose="02020603050405020304" charset="0"/>
                <a:cs typeface="Times New Roman" panose="02020603050405020304" charset="0"/>
                <a:sym typeface="+mn-ea"/>
              </a:rPr>
              <a:t>LIỆU </a:t>
            </a:r>
            <a:endParaRPr lang="vi-VN" altLang="en-US" sz="2800" b="1" dirty="0">
              <a:solidFill>
                <a:srgbClr val="01DADF"/>
              </a:solidFill>
              <a:latin typeface="Times New Roman" panose="02020603050405020304" charset="0"/>
              <a:cs typeface="Times New Roman" panose="02020603050405020304" charset="0"/>
              <a:sym typeface="+mn-ea"/>
            </a:endParaRPr>
          </a:p>
        </p:txBody>
      </p:sp>
      <p:pic>
        <p:nvPicPr>
          <p:cNvPr id="4" name="Picture 3"/>
          <p:cNvPicPr>
            <a:picLocks noChangeAspect="1"/>
          </p:cNvPicPr>
          <p:nvPr/>
        </p:nvPicPr>
        <p:blipFill>
          <a:blip r:embed="rId1"/>
          <a:stretch>
            <a:fillRect/>
          </a:stretch>
        </p:blipFill>
        <p:spPr>
          <a:xfrm>
            <a:off x="657225" y="1044575"/>
            <a:ext cx="9858375" cy="2225675"/>
          </a:xfrm>
          <a:prstGeom prst="rect">
            <a:avLst/>
          </a:prstGeom>
        </p:spPr>
      </p:pic>
      <p:pic>
        <p:nvPicPr>
          <p:cNvPr id="5" name="Picture 4"/>
          <p:cNvPicPr/>
          <p:nvPr/>
        </p:nvPicPr>
        <p:blipFill>
          <a:blip r:embed="rId2"/>
          <a:srcRect b="5792"/>
          <a:stretch>
            <a:fillRect/>
          </a:stretch>
        </p:blipFill>
        <p:spPr>
          <a:xfrm>
            <a:off x="996950" y="3429000"/>
            <a:ext cx="3038475" cy="2966720"/>
          </a:xfrm>
          <a:prstGeom prst="rect">
            <a:avLst/>
          </a:prstGeom>
        </p:spPr>
      </p:pic>
      <p:sp>
        <p:nvSpPr>
          <p:cNvPr id="6" name="Text Box 5"/>
          <p:cNvSpPr txBox="1"/>
          <p:nvPr/>
        </p:nvSpPr>
        <p:spPr>
          <a:xfrm>
            <a:off x="5052060" y="3811905"/>
            <a:ext cx="5080000" cy="2228215"/>
          </a:xfrm>
          <a:prstGeom prst="rect">
            <a:avLst/>
          </a:prstGeom>
        </p:spPr>
        <p:txBody>
          <a:bodyPr>
            <a:noAutofit/>
          </a:bodyPr>
          <a:p>
            <a:pPr marL="0" indent="0" algn="just">
              <a:lnSpc>
                <a:spcPct val="150000"/>
              </a:lnSpc>
            </a:pPr>
            <a:r>
              <a:rPr lang="en-US" altLang="zh-CN" b="0" i="0">
                <a:solidFill>
                  <a:srgbClr val="334155"/>
                </a:solidFill>
                <a:latin typeface="Times New Roman" panose="02020603050405020304" charset="0"/>
                <a:ea typeface="Afacad Flux"/>
                <a:cs typeface="Times New Roman" panose="02020603050405020304" charset="0"/>
              </a:rPr>
              <a:t>Dầu Diesel có sự biến động lớn nhất và thường xuyên cao hơn giá xăng trong các giai đoạn khủng hoảng năng lượng toàn cầu, ảnh hưởng trực tiếp đến chi phí logistics đường dài.</a:t>
            </a:r>
            <a:endParaRPr lang="en-US" altLang="zh-CN" b="0" i="0">
              <a:solidFill>
                <a:srgbClr val="334155"/>
              </a:solidFill>
              <a:latin typeface="Times New Roman" panose="02020603050405020304" charset="0"/>
              <a:ea typeface="Afacad Flux"/>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idx="1"/>
          </p:nvPr>
        </p:nvPicPr>
        <p:blipFill>
          <a:blip r:embed="rId1"/>
          <a:stretch>
            <a:fillRect/>
          </a:stretch>
        </p:blipFill>
        <p:spPr>
          <a:xfrm>
            <a:off x="144145" y="257175"/>
            <a:ext cx="11904345" cy="63436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idx="1"/>
          </p:nvPr>
        </p:nvPicPr>
        <p:blipFill>
          <a:blip r:embed="rId1"/>
          <a:stretch>
            <a:fillRect/>
          </a:stretch>
        </p:blipFill>
        <p:spPr>
          <a:xfrm>
            <a:off x="2472690" y="1091565"/>
            <a:ext cx="8385175" cy="5548630"/>
          </a:xfrm>
          <a:prstGeom prst="rect">
            <a:avLst/>
          </a:prstGeom>
        </p:spPr>
      </p:pic>
      <p:sp>
        <p:nvSpPr>
          <p:cNvPr id="6" name="Text Box 5"/>
          <p:cNvSpPr txBox="1"/>
          <p:nvPr/>
        </p:nvSpPr>
        <p:spPr>
          <a:xfrm>
            <a:off x="554355" y="376555"/>
            <a:ext cx="7642860" cy="645160"/>
          </a:xfrm>
          <a:prstGeom prst="rect">
            <a:avLst/>
          </a:prstGeom>
          <a:noFill/>
        </p:spPr>
        <p:txBody>
          <a:bodyPr wrap="square" rtlCol="0">
            <a:spAutoFit/>
          </a:bodyPr>
          <a:p>
            <a:r>
              <a:rPr lang="vi-VN" altLang="en-US" sz="3600">
                <a:solidFill>
                  <a:schemeClr val="accent1"/>
                </a:solidFill>
                <a:latin typeface="Times New Roman" panose="02020603050405020304" charset="0"/>
                <a:cs typeface="Times New Roman" panose="02020603050405020304" charset="0"/>
              </a:rPr>
              <a:t>Tỉ lệ sử dụng nhiên liệu ( Ước tính )</a:t>
            </a:r>
            <a:endParaRPr lang="vi-VN" altLang="en-US" sz="3600">
              <a:solidFill>
                <a:schemeClr val="accent1"/>
              </a:solidFill>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 name="文本框 11"/>
          <p:cNvSpPr txBox="1"/>
          <p:nvPr>
            <p:custDataLst>
              <p:tags r:id="rId1"/>
            </p:custDataLst>
          </p:nvPr>
        </p:nvSpPr>
        <p:spPr>
          <a:xfrm>
            <a:off x="3275648" y="807720"/>
            <a:ext cx="5250815" cy="535305"/>
          </a:xfrm>
          <a:prstGeom prst="rect">
            <a:avLst/>
          </a:prstGeom>
          <a:noFill/>
        </p:spPr>
        <p:txBody>
          <a:bodyPr anchor="ctr"/>
          <a:p>
            <a:pPr algn="ctr" fontAlgn="auto">
              <a:spcBef>
                <a:spcPts val="0"/>
              </a:spcBef>
              <a:spcAft>
                <a:spcPts val="0"/>
              </a:spcAft>
              <a:defRPr/>
            </a:pPr>
            <a:endParaRPr lang="en-US" altLang="da-DK" sz="5400" b="1" dirty="0">
              <a:solidFill>
                <a:srgbClr val="2368A4"/>
              </a:solidFill>
              <a:latin typeface="Roboto Bk" charset="0"/>
              <a:ea typeface="+mn-ea"/>
              <a:cs typeface="Roboto Bk" charset="0"/>
              <a:sym typeface="+mn-ea"/>
            </a:endParaRPr>
          </a:p>
        </p:txBody>
      </p:sp>
      <p:sp>
        <p:nvSpPr>
          <p:cNvPr id="23" name="文本框 11"/>
          <p:cNvSpPr txBox="1"/>
          <p:nvPr>
            <p:custDataLst>
              <p:tags r:id="rId2"/>
            </p:custDataLst>
          </p:nvPr>
        </p:nvSpPr>
        <p:spPr>
          <a:xfrm>
            <a:off x="627380" y="2646045"/>
            <a:ext cx="6858000" cy="885190"/>
          </a:xfrm>
          <a:prstGeom prst="rect">
            <a:avLst/>
          </a:prstGeom>
          <a:noFill/>
        </p:spPr>
        <p:txBody>
          <a:bodyPr anchor="ctr">
            <a:noAutofit/>
          </a:bodyPr>
          <a:p>
            <a:pPr algn="just" fontAlgn="auto">
              <a:lnSpc>
                <a:spcPct val="150000"/>
              </a:lnSpc>
              <a:spcBef>
                <a:spcPts val="0"/>
              </a:spcBef>
              <a:spcAft>
                <a:spcPts val="0"/>
              </a:spcAft>
              <a:defRPr/>
            </a:pPr>
            <a:r>
              <a:rPr lang="en-US" altLang="en-GB" b="1" dirty="0">
                <a:solidFill>
                  <a:srgbClr val="564E49"/>
                </a:solidFill>
                <a:latin typeface="Arial" panose="020B0604020202020204" pitchFamily="34" charset="0"/>
                <a:ea typeface="+mn-ea"/>
                <a:sym typeface="+mn-ea"/>
              </a:rPr>
              <a:t>"X</a:t>
            </a:r>
            <a:r>
              <a:rPr lang="en-US" altLang="en-US" b="1" dirty="0">
                <a:solidFill>
                  <a:srgbClr val="564E49"/>
                </a:solidFill>
                <a:latin typeface="Arial" panose="020B0604020202020204" pitchFamily="34" charset="0"/>
                <a:ea typeface="+mn-ea"/>
                <a:sym typeface="+mn-ea"/>
              </a:rPr>
              <a:t>ă</a:t>
            </a:r>
            <a:r>
              <a:rPr lang="en-US" altLang="en-GB" b="1" dirty="0">
                <a:solidFill>
                  <a:srgbClr val="564E49"/>
                </a:solidFill>
                <a:latin typeface="Arial" panose="020B0604020202020204" pitchFamily="34" charset="0"/>
                <a:ea typeface="+mn-ea"/>
                <a:sym typeface="+mn-ea"/>
              </a:rPr>
              <a:t>ng t</a:t>
            </a:r>
            <a:r>
              <a:rPr lang="en-US" altLang="en-US" b="1" dirty="0">
                <a:solidFill>
                  <a:srgbClr val="564E49"/>
                </a:solidFill>
                <a:latin typeface="Arial" panose="020B0604020202020204" pitchFamily="34" charset="0"/>
                <a:ea typeface="+mn-ea"/>
                <a:sym typeface="+mn-ea"/>
              </a:rPr>
              <a:t>ă</a:t>
            </a:r>
            <a:r>
              <a:rPr lang="en-US" altLang="en-GB" b="1" dirty="0">
                <a:solidFill>
                  <a:srgbClr val="564E49"/>
                </a:solidFill>
                <a:latin typeface="Arial" panose="020B0604020202020204" pitchFamily="34" charset="0"/>
                <a:ea typeface="+mn-ea"/>
                <a:sym typeface="+mn-ea"/>
              </a:rPr>
              <a:t>ng - Vạn vật t</a:t>
            </a:r>
            <a:r>
              <a:rPr lang="en-US" altLang="en-US" b="1" dirty="0">
                <a:solidFill>
                  <a:srgbClr val="564E49"/>
                </a:solidFill>
                <a:latin typeface="Arial" panose="020B0604020202020204" pitchFamily="34" charset="0"/>
                <a:ea typeface="+mn-ea"/>
                <a:sym typeface="+mn-ea"/>
              </a:rPr>
              <a:t>ă</a:t>
            </a:r>
            <a:r>
              <a:rPr lang="en-US" altLang="en-GB" b="1" dirty="0">
                <a:solidFill>
                  <a:srgbClr val="564E49"/>
                </a:solidFill>
                <a:latin typeface="Arial" panose="020B0604020202020204" pitchFamily="34" charset="0"/>
                <a:ea typeface="+mn-ea"/>
                <a:sym typeface="+mn-ea"/>
              </a:rPr>
              <a:t>ng"</a:t>
            </a:r>
            <a:endParaRPr lang="en-US" altLang="en-GB" b="1" dirty="0">
              <a:solidFill>
                <a:srgbClr val="564E49"/>
              </a:solidFill>
              <a:latin typeface="Arial" panose="020B0604020202020204" pitchFamily="34" charset="0"/>
              <a:ea typeface="+mn-ea"/>
              <a:sym typeface="+mn-ea"/>
            </a:endParaRPr>
          </a:p>
          <a:p>
            <a:pPr algn="just" fontAlgn="auto">
              <a:lnSpc>
                <a:spcPct val="150000"/>
              </a:lnSpc>
              <a:spcBef>
                <a:spcPts val="0"/>
              </a:spcBef>
              <a:spcAft>
                <a:spcPts val="0"/>
              </a:spcAft>
              <a:defRPr/>
            </a:pPr>
            <a:r>
              <a:rPr lang="en-US" altLang="en-GB" dirty="0">
                <a:solidFill>
                  <a:srgbClr val="564E49"/>
                </a:solidFill>
                <a:latin typeface="Arial" panose="020B0604020202020204" pitchFamily="34" charset="0"/>
                <a:ea typeface="+mn-ea"/>
                <a:sym typeface="+mn-ea"/>
              </a:rPr>
              <a:t>Gi</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 x</a:t>
            </a:r>
            <a:r>
              <a:rPr lang="en-US" altLang="en-US" dirty="0">
                <a:solidFill>
                  <a:srgbClr val="564E49"/>
                </a:solidFill>
                <a:latin typeface="Arial" panose="020B0604020202020204" pitchFamily="34" charset="0"/>
                <a:ea typeface="+mn-ea"/>
                <a:sym typeface="+mn-ea"/>
              </a:rPr>
              <a:t>ă</a:t>
            </a:r>
            <a:r>
              <a:rPr lang="en-US" altLang="en-GB" dirty="0">
                <a:solidFill>
                  <a:srgbClr val="564E49"/>
                </a:solidFill>
                <a:latin typeface="Arial" panose="020B0604020202020204" pitchFamily="34" charset="0"/>
                <a:ea typeface="+mn-ea"/>
                <a:sym typeface="+mn-ea"/>
              </a:rPr>
              <a:t>ng dầu không chỉ là một con số, n</a:t>
            </a:r>
            <a:r>
              <a:rPr lang="en-US" altLang="en-US" dirty="0">
                <a:solidFill>
                  <a:srgbClr val="564E49"/>
                </a:solidFill>
                <a:latin typeface="Arial" panose="020B0604020202020204" pitchFamily="34" charset="0"/>
                <a:ea typeface="+mn-ea"/>
                <a:sym typeface="+mn-ea"/>
              </a:rPr>
              <a:t>ó</a:t>
            </a:r>
            <a:r>
              <a:rPr lang="en-US" altLang="en-GB" dirty="0">
                <a:solidFill>
                  <a:srgbClr val="564E49"/>
                </a:solidFill>
                <a:latin typeface="Arial" panose="020B0604020202020204" pitchFamily="34" charset="0"/>
                <a:ea typeface="+mn-ea"/>
                <a:sym typeface="+mn-ea"/>
              </a:rPr>
              <a:t> là mạch m</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u của nền kinh tế. Khi gi</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 x</a:t>
            </a:r>
            <a:r>
              <a:rPr lang="en-US" altLang="en-US" dirty="0">
                <a:solidFill>
                  <a:srgbClr val="564E49"/>
                </a:solidFill>
                <a:latin typeface="Arial" panose="020B0604020202020204" pitchFamily="34" charset="0"/>
                <a:ea typeface="+mn-ea"/>
                <a:sym typeface="+mn-ea"/>
              </a:rPr>
              <a:t>ă</a:t>
            </a:r>
            <a:r>
              <a:rPr lang="en-US" altLang="en-GB" dirty="0">
                <a:solidFill>
                  <a:srgbClr val="564E49"/>
                </a:solidFill>
                <a:latin typeface="Arial" panose="020B0604020202020204" pitchFamily="34" charset="0"/>
                <a:ea typeface="+mn-ea"/>
                <a:sym typeface="+mn-ea"/>
              </a:rPr>
              <a:t>ng biến </a:t>
            </a:r>
            <a:r>
              <a:rPr lang="en-US" altLang="en-US" dirty="0">
                <a:solidFill>
                  <a:srgbClr val="564E49"/>
                </a:solidFill>
                <a:latin typeface="Arial" panose="020B0604020202020204" pitchFamily="34" charset="0"/>
                <a:ea typeface="+mn-ea"/>
                <a:sym typeface="+mn-ea"/>
              </a:rPr>
              <a:t>đ</a:t>
            </a:r>
            <a:r>
              <a:rPr lang="en-US" altLang="en-GB" dirty="0">
                <a:solidFill>
                  <a:srgbClr val="564E49"/>
                </a:solidFill>
                <a:latin typeface="Arial" panose="020B0604020202020204" pitchFamily="34" charset="0"/>
                <a:ea typeface="+mn-ea"/>
                <a:sym typeface="+mn-ea"/>
              </a:rPr>
              <a:t>ộng mạnh (2021-2025), n</a:t>
            </a:r>
            <a:r>
              <a:rPr lang="en-US" altLang="en-US" dirty="0">
                <a:solidFill>
                  <a:srgbClr val="564E49"/>
                </a:solidFill>
                <a:latin typeface="Arial" panose="020B0604020202020204" pitchFamily="34" charset="0"/>
                <a:ea typeface="+mn-ea"/>
                <a:sym typeface="+mn-ea"/>
              </a:rPr>
              <a:t>ó</a:t>
            </a:r>
            <a:r>
              <a:rPr lang="en-US" altLang="en-GB" dirty="0">
                <a:solidFill>
                  <a:srgbClr val="564E49"/>
                </a:solidFill>
                <a:latin typeface="Arial" panose="020B0604020202020204" pitchFamily="34" charset="0"/>
                <a:ea typeface="+mn-ea"/>
                <a:sym typeface="+mn-ea"/>
              </a:rPr>
              <a:t> tạo ra hiệu ứng d</a:t>
            </a:r>
            <a:r>
              <a:rPr lang="en-US" altLang="en-US" dirty="0">
                <a:solidFill>
                  <a:srgbClr val="564E49"/>
                </a:solidFill>
                <a:latin typeface="Arial" panose="020B0604020202020204" pitchFamily="34" charset="0"/>
                <a:ea typeface="+mn-ea"/>
                <a:sym typeface="+mn-ea"/>
              </a:rPr>
              <a:t>â</a:t>
            </a:r>
            <a:r>
              <a:rPr lang="en-US" altLang="en-GB" dirty="0">
                <a:solidFill>
                  <a:srgbClr val="564E49"/>
                </a:solidFill>
                <a:latin typeface="Arial" panose="020B0604020202020204" pitchFamily="34" charset="0"/>
                <a:ea typeface="+mn-ea"/>
                <a:sym typeface="+mn-ea"/>
              </a:rPr>
              <a:t>y chuyền:</a:t>
            </a:r>
            <a:endParaRPr lang="en-US" altLang="en-GB" dirty="0">
              <a:solidFill>
                <a:srgbClr val="564E49"/>
              </a:solidFill>
              <a:latin typeface="Arial" panose="020B0604020202020204" pitchFamily="34" charset="0"/>
              <a:ea typeface="+mn-ea"/>
              <a:sym typeface="+mn-ea"/>
            </a:endParaRPr>
          </a:p>
          <a:p>
            <a:pPr marL="285750" indent="-285750" algn="just"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Arial" panose="020B0604020202020204" pitchFamily="34" charset="0"/>
                <a:ea typeface="+mn-ea"/>
                <a:sym typeface="+mn-ea"/>
              </a:rPr>
              <a:t> Logistics: </a:t>
            </a:r>
            <a:r>
              <a:rPr lang="en-US" altLang="en-US" dirty="0">
                <a:solidFill>
                  <a:srgbClr val="564E49"/>
                </a:solidFill>
                <a:latin typeface="Arial" panose="020B0604020202020204" pitchFamily="34" charset="0"/>
                <a:ea typeface="+mn-ea"/>
                <a:sym typeface="+mn-ea"/>
              </a:rPr>
              <a:t>Đ</a:t>
            </a:r>
            <a:r>
              <a:rPr lang="en-US" altLang="en-GB" dirty="0">
                <a:solidFill>
                  <a:srgbClr val="564E49"/>
                </a:solidFill>
                <a:latin typeface="Arial" panose="020B0604020202020204" pitchFamily="34" charset="0"/>
                <a:ea typeface="+mn-ea"/>
                <a:sym typeface="+mn-ea"/>
              </a:rPr>
              <a:t>ẩy chi ph</a:t>
            </a:r>
            <a:r>
              <a:rPr lang="en-US" altLang="en-US" dirty="0">
                <a:solidFill>
                  <a:srgbClr val="564E49"/>
                </a:solidFill>
                <a:latin typeface="Arial" panose="020B0604020202020204" pitchFamily="34" charset="0"/>
                <a:ea typeface="+mn-ea"/>
                <a:sym typeface="+mn-ea"/>
              </a:rPr>
              <a:t>í</a:t>
            </a:r>
            <a:r>
              <a:rPr lang="en-US" altLang="en-GB" dirty="0">
                <a:solidFill>
                  <a:srgbClr val="564E49"/>
                </a:solidFill>
                <a:latin typeface="Arial" panose="020B0604020202020204" pitchFamily="34" charset="0"/>
                <a:ea typeface="+mn-ea"/>
                <a:sym typeface="+mn-ea"/>
              </a:rPr>
              <a:t> vận tải l</a:t>
            </a:r>
            <a:r>
              <a:rPr lang="en-US" altLang="en-US" dirty="0">
                <a:solidFill>
                  <a:srgbClr val="564E49"/>
                </a:solidFill>
                <a:latin typeface="Arial" panose="020B0604020202020204" pitchFamily="34" charset="0"/>
                <a:ea typeface="+mn-ea"/>
                <a:sym typeface="+mn-ea"/>
              </a:rPr>
              <a:t>ê</a:t>
            </a:r>
            <a:r>
              <a:rPr lang="en-US" altLang="en-GB" dirty="0">
                <a:solidFill>
                  <a:srgbClr val="564E49"/>
                </a:solidFill>
                <a:latin typeface="Arial" panose="020B0604020202020204" pitchFamily="34" charset="0"/>
                <a:ea typeface="+mn-ea"/>
                <a:sym typeface="+mn-ea"/>
              </a:rPr>
              <a:t>n cao.</a:t>
            </a:r>
            <a:endParaRPr lang="en-US" altLang="en-GB" dirty="0">
              <a:solidFill>
                <a:srgbClr val="564E49"/>
              </a:solidFill>
              <a:latin typeface="Arial" panose="020B0604020202020204" pitchFamily="34" charset="0"/>
              <a:ea typeface="+mn-ea"/>
              <a:sym typeface="+mn-ea"/>
            </a:endParaRPr>
          </a:p>
          <a:p>
            <a:pPr marL="285750" indent="-285750" algn="just"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Arial" panose="020B0604020202020204" pitchFamily="34" charset="0"/>
                <a:ea typeface="+mn-ea"/>
                <a:sym typeface="+mn-ea"/>
              </a:rPr>
              <a:t> Ti</a:t>
            </a:r>
            <a:r>
              <a:rPr lang="en-US" altLang="en-US" dirty="0">
                <a:solidFill>
                  <a:srgbClr val="564E49"/>
                </a:solidFill>
                <a:latin typeface="Arial" panose="020B0604020202020204" pitchFamily="34" charset="0"/>
                <a:ea typeface="+mn-ea"/>
                <a:sym typeface="+mn-ea"/>
              </a:rPr>
              <a:t>ê</a:t>
            </a:r>
            <a:r>
              <a:rPr lang="en-US" altLang="en-GB" dirty="0">
                <a:solidFill>
                  <a:srgbClr val="564E49"/>
                </a:solidFill>
                <a:latin typeface="Arial" panose="020B0604020202020204" pitchFamily="34" charset="0"/>
                <a:ea typeface="+mn-ea"/>
                <a:sym typeface="+mn-ea"/>
              </a:rPr>
              <a:t>u d</a:t>
            </a:r>
            <a:r>
              <a:rPr lang="en-US" altLang="en-US" dirty="0">
                <a:solidFill>
                  <a:srgbClr val="564E49"/>
                </a:solidFill>
                <a:latin typeface="Arial" panose="020B0604020202020204" pitchFamily="34" charset="0"/>
                <a:ea typeface="+mn-ea"/>
                <a:sym typeface="+mn-ea"/>
              </a:rPr>
              <a:t>ù</a:t>
            </a:r>
            <a:r>
              <a:rPr lang="en-US" altLang="en-GB" dirty="0">
                <a:solidFill>
                  <a:srgbClr val="564E49"/>
                </a:solidFill>
                <a:latin typeface="Arial" panose="020B0604020202020204" pitchFamily="34" charset="0"/>
                <a:ea typeface="+mn-ea"/>
                <a:sym typeface="+mn-ea"/>
              </a:rPr>
              <a:t>ng: T</a:t>
            </a:r>
            <a:r>
              <a:rPr lang="en-US" altLang="en-US" dirty="0">
                <a:solidFill>
                  <a:srgbClr val="564E49"/>
                </a:solidFill>
                <a:latin typeface="Arial" panose="020B0604020202020204" pitchFamily="34" charset="0"/>
                <a:ea typeface="+mn-ea"/>
                <a:sym typeface="+mn-ea"/>
              </a:rPr>
              <a:t>ă</a:t>
            </a:r>
            <a:r>
              <a:rPr lang="en-US" altLang="en-GB" dirty="0">
                <a:solidFill>
                  <a:srgbClr val="564E49"/>
                </a:solidFill>
                <a:latin typeface="Arial" panose="020B0604020202020204" pitchFamily="34" charset="0"/>
                <a:ea typeface="+mn-ea"/>
                <a:sym typeface="+mn-ea"/>
              </a:rPr>
              <a:t>ng gi</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 thực phẩm, dịch vụ.</a:t>
            </a:r>
            <a:endParaRPr lang="en-US" altLang="en-GB" dirty="0">
              <a:solidFill>
                <a:srgbClr val="564E49"/>
              </a:solidFill>
              <a:latin typeface="Arial" panose="020B0604020202020204" pitchFamily="34" charset="0"/>
              <a:ea typeface="+mn-ea"/>
              <a:sym typeface="+mn-ea"/>
            </a:endParaRPr>
          </a:p>
          <a:p>
            <a:pPr marL="285750" indent="-285750" algn="just" fontAlgn="auto">
              <a:lnSpc>
                <a:spcPct val="150000"/>
              </a:lnSpc>
              <a:spcBef>
                <a:spcPts val="0"/>
              </a:spcBef>
              <a:spcAft>
                <a:spcPts val="0"/>
              </a:spcAft>
              <a:buFont typeface="Wingdings" panose="05000000000000000000" charset="0"/>
              <a:buChar char="Ø"/>
              <a:defRPr/>
            </a:pPr>
            <a:r>
              <a:rPr lang="en-US" altLang="en-GB" dirty="0">
                <a:solidFill>
                  <a:srgbClr val="564E49"/>
                </a:solidFill>
                <a:latin typeface="Arial" panose="020B0604020202020204" pitchFamily="34" charset="0"/>
                <a:ea typeface="+mn-ea"/>
                <a:sym typeface="+mn-ea"/>
              </a:rPr>
              <a:t> Lạm ph</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t: G</a:t>
            </a:r>
            <a:r>
              <a:rPr lang="en-US" altLang="en-US" dirty="0">
                <a:solidFill>
                  <a:srgbClr val="564E49"/>
                </a:solidFill>
                <a:latin typeface="Arial" panose="020B0604020202020204" pitchFamily="34" charset="0"/>
                <a:ea typeface="+mn-ea"/>
                <a:sym typeface="+mn-ea"/>
              </a:rPr>
              <a:t>â</a:t>
            </a:r>
            <a:r>
              <a:rPr lang="en-US" altLang="en-GB" dirty="0">
                <a:solidFill>
                  <a:srgbClr val="564E49"/>
                </a:solidFill>
                <a:latin typeface="Arial" panose="020B0604020202020204" pitchFamily="34" charset="0"/>
                <a:ea typeface="+mn-ea"/>
                <a:sym typeface="+mn-ea"/>
              </a:rPr>
              <a:t>y </a:t>
            </a:r>
            <a:r>
              <a:rPr lang="en-US" altLang="en-US" dirty="0">
                <a:solidFill>
                  <a:srgbClr val="564E49"/>
                </a:solidFill>
                <a:latin typeface="Arial" panose="020B0604020202020204" pitchFamily="34" charset="0"/>
                <a:ea typeface="+mn-ea"/>
                <a:sym typeface="+mn-ea"/>
              </a:rPr>
              <a:t>á</a:t>
            </a:r>
            <a:r>
              <a:rPr lang="en-US" altLang="en-GB" dirty="0">
                <a:solidFill>
                  <a:srgbClr val="564E49"/>
                </a:solidFill>
                <a:latin typeface="Arial" panose="020B0604020202020204" pitchFamily="34" charset="0"/>
                <a:ea typeface="+mn-ea"/>
                <a:sym typeface="+mn-ea"/>
              </a:rPr>
              <a:t>p lực trực tiếp l</a:t>
            </a:r>
            <a:r>
              <a:rPr lang="en-US" altLang="en-US" dirty="0">
                <a:solidFill>
                  <a:srgbClr val="564E49"/>
                </a:solidFill>
                <a:latin typeface="Arial" panose="020B0604020202020204" pitchFamily="34" charset="0"/>
                <a:ea typeface="+mn-ea"/>
                <a:sym typeface="+mn-ea"/>
              </a:rPr>
              <a:t>ê</a:t>
            </a:r>
            <a:r>
              <a:rPr lang="en-US" altLang="en-GB" dirty="0">
                <a:solidFill>
                  <a:srgbClr val="564E49"/>
                </a:solidFill>
                <a:latin typeface="Arial" panose="020B0604020202020204" pitchFamily="34" charset="0"/>
                <a:ea typeface="+mn-ea"/>
                <a:sym typeface="+mn-ea"/>
              </a:rPr>
              <a:t>n chỉ số CPI.</a:t>
            </a:r>
            <a:endParaRPr lang="en-US" altLang="en-GB" dirty="0">
              <a:solidFill>
                <a:srgbClr val="564E49"/>
              </a:solidFill>
              <a:latin typeface="Arial" panose="020B0604020202020204" pitchFamily="34" charset="0"/>
              <a:ea typeface="+mn-ea"/>
              <a:sym typeface="+mn-ea"/>
            </a:endParaRPr>
          </a:p>
        </p:txBody>
      </p:sp>
      <p:sp>
        <p:nvSpPr>
          <p:cNvPr id="2" name="文本框 11"/>
          <p:cNvSpPr txBox="1"/>
          <p:nvPr>
            <p:custDataLst>
              <p:tags r:id="rId3"/>
            </p:custDataLst>
          </p:nvPr>
        </p:nvSpPr>
        <p:spPr>
          <a:xfrm>
            <a:off x="382905" y="337185"/>
            <a:ext cx="7552055" cy="74358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mn-ea"/>
                <a:cs typeface="Times New Roman" panose="02020603050405020304" charset="0"/>
                <a:sym typeface="+mn-ea"/>
              </a:rPr>
              <a:t>ẢNH HƯỞNG KINH TẾ VÀ ĐỜI </a:t>
            </a:r>
            <a:r>
              <a:rPr lang="vi-VN" altLang="en-US" sz="2800" b="1" dirty="0">
                <a:solidFill>
                  <a:srgbClr val="01DADF"/>
                </a:solidFill>
                <a:latin typeface="Times New Roman" panose="02020603050405020304" charset="0"/>
                <a:ea typeface="+mn-ea"/>
                <a:cs typeface="Times New Roman" panose="02020603050405020304" charset="0"/>
                <a:sym typeface="+mn-ea"/>
              </a:rPr>
              <a:t>SỐNG</a:t>
            </a:r>
            <a:endParaRPr lang="vi-VN" altLang="en-US" sz="2800" b="1" dirty="0">
              <a:solidFill>
                <a:srgbClr val="01DADF"/>
              </a:solidFill>
              <a:latin typeface="Times New Roman" panose="02020603050405020304" charset="0"/>
              <a:ea typeface="+mn-ea"/>
              <a:cs typeface="Times New Roman" panose="02020603050405020304" charset="0"/>
              <a:sym typeface="+mn-ea"/>
            </a:endParaRPr>
          </a:p>
        </p:txBody>
      </p:sp>
      <p:pic>
        <p:nvPicPr>
          <p:cNvPr id="4" name="Picture 3"/>
          <p:cNvPicPr/>
          <p:nvPr/>
        </p:nvPicPr>
        <p:blipFill>
          <a:blip r:embed="rId4"/>
          <a:stretch>
            <a:fillRect/>
          </a:stretch>
        </p:blipFill>
        <p:spPr>
          <a:xfrm>
            <a:off x="6096000" y="3092450"/>
            <a:ext cx="5480685" cy="3474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575945" y="72390"/>
            <a:ext cx="10365740" cy="66033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931545" y="848995"/>
            <a:ext cx="4953000" cy="5732780"/>
          </a:xfrm>
          <a:prstGeom prst="rect">
            <a:avLst/>
          </a:prstGeom>
          <a:solidFill>
            <a:schemeClr val="bg1"/>
          </a:solidFill>
          <a:ln>
            <a:noFill/>
          </a:ln>
          <a:effectLst>
            <a:outerShdw blurRad="215900" dist="114300" dir="8100000" algn="tr" rotWithShape="0">
              <a:srgbClr val="0069A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文本框 11"/>
          <p:cNvSpPr txBox="1"/>
          <p:nvPr>
            <p:custDataLst>
              <p:tags r:id="rId1"/>
            </p:custDataLst>
          </p:nvPr>
        </p:nvSpPr>
        <p:spPr>
          <a:xfrm>
            <a:off x="382905" y="337185"/>
            <a:ext cx="7552055" cy="743585"/>
          </a:xfrm>
          <a:prstGeom prst="rect">
            <a:avLst/>
          </a:prstGeom>
          <a:noFill/>
        </p:spPr>
        <p:txBody>
          <a:bodyPr anchor="ctr"/>
          <a:p>
            <a:pPr algn="l" fontAlgn="auto">
              <a:spcBef>
                <a:spcPts val="0"/>
              </a:spcBef>
              <a:spcAft>
                <a:spcPts val="0"/>
              </a:spcAft>
              <a:defRPr/>
            </a:pPr>
            <a:r>
              <a:rPr lang="vi-VN" altLang="en-US" sz="2800" b="1" dirty="0">
                <a:solidFill>
                  <a:srgbClr val="01DADF"/>
                </a:solidFill>
                <a:latin typeface="Times New Roman" panose="02020603050405020304" charset="0"/>
                <a:ea typeface="+mn-ea"/>
                <a:cs typeface="Times New Roman" panose="02020603050405020304" charset="0"/>
                <a:sym typeface="+mn-ea"/>
              </a:rPr>
              <a:t>KHÓ KHĂN VÀ THÁCH </a:t>
            </a:r>
            <a:r>
              <a:rPr lang="vi-VN" altLang="en-US" sz="2800" b="1" dirty="0">
                <a:solidFill>
                  <a:srgbClr val="01DADF"/>
                </a:solidFill>
                <a:latin typeface="Times New Roman" panose="02020603050405020304" charset="0"/>
                <a:ea typeface="+mn-ea"/>
                <a:cs typeface="Times New Roman" panose="02020603050405020304" charset="0"/>
                <a:sym typeface="+mn-ea"/>
              </a:rPr>
              <a:t>THỨC</a:t>
            </a:r>
            <a:endParaRPr lang="vi-VN" altLang="en-US" sz="2800" b="1" dirty="0">
              <a:solidFill>
                <a:srgbClr val="01DADF"/>
              </a:solidFill>
              <a:latin typeface="Times New Roman" panose="02020603050405020304" charset="0"/>
              <a:ea typeface="+mn-ea"/>
              <a:cs typeface="Times New Roman" panose="02020603050405020304" charset="0"/>
              <a:sym typeface="+mn-ea"/>
            </a:endParaRPr>
          </a:p>
        </p:txBody>
      </p:sp>
      <p:pic>
        <p:nvPicPr>
          <p:cNvPr id="18" name="Picture 17"/>
          <p:cNvPicPr>
            <a:picLocks noChangeAspect="1"/>
          </p:cNvPicPr>
          <p:nvPr/>
        </p:nvPicPr>
        <p:blipFill>
          <a:blip r:embed="rId2"/>
          <a:stretch>
            <a:fillRect/>
          </a:stretch>
        </p:blipFill>
        <p:spPr>
          <a:xfrm>
            <a:off x="1386840" y="1332230"/>
            <a:ext cx="4709160" cy="4914900"/>
          </a:xfrm>
          <a:prstGeom prst="rect">
            <a:avLst/>
          </a:prstGeom>
        </p:spPr>
      </p:pic>
      <p:pic>
        <p:nvPicPr>
          <p:cNvPr id="19" name="Picture 18"/>
          <p:cNvPicPr/>
          <p:nvPr/>
        </p:nvPicPr>
        <p:blipFill>
          <a:blip r:embed="rId3"/>
          <a:stretch>
            <a:fillRect/>
          </a:stretch>
        </p:blipFill>
        <p:spPr>
          <a:xfrm>
            <a:off x="7310755" y="1537335"/>
            <a:ext cx="4434205" cy="46348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416560" y="526415"/>
            <a:ext cx="6096000" cy="521970"/>
          </a:xfrm>
          <a:prstGeom prst="rect">
            <a:avLst/>
          </a:prstGeom>
          <a:noFill/>
        </p:spPr>
        <p:txBody>
          <a:bodyPr wrap="square" rtlCol="0" anchor="t">
            <a:spAutoFit/>
          </a:bodyPr>
          <a:p>
            <a:pPr algn="l" fontAlgn="auto">
              <a:spcBef>
                <a:spcPts val="0"/>
              </a:spcBef>
              <a:spcAft>
                <a:spcPts val="0"/>
              </a:spcAft>
              <a:defRPr/>
            </a:pPr>
            <a:r>
              <a:rPr lang="vi-VN" altLang="en-US" sz="2800" b="1" dirty="0">
                <a:solidFill>
                  <a:srgbClr val="01DADF"/>
                </a:solidFill>
                <a:latin typeface="Times New Roman" panose="02020603050405020304" charset="0"/>
                <a:cs typeface="Times New Roman" panose="02020603050405020304" charset="0"/>
                <a:sym typeface="+mn-ea"/>
              </a:rPr>
              <a:t>DỰ BÁO VÀ HƯỚNG PHÁT </a:t>
            </a:r>
            <a:r>
              <a:rPr lang="vi-VN" altLang="en-US" sz="2800" b="1" dirty="0">
                <a:solidFill>
                  <a:srgbClr val="01DADF"/>
                </a:solidFill>
                <a:latin typeface="Times New Roman" panose="02020603050405020304" charset="0"/>
                <a:cs typeface="Times New Roman" panose="02020603050405020304" charset="0"/>
                <a:sym typeface="+mn-ea"/>
              </a:rPr>
              <a:t>TRIỂN </a:t>
            </a:r>
            <a:endParaRPr lang="vi-VN" altLang="en-US" sz="2800" b="1" dirty="0">
              <a:solidFill>
                <a:srgbClr val="01DADF"/>
              </a:solidFill>
              <a:latin typeface="Times New Roman" panose="02020603050405020304" charset="0"/>
              <a:cs typeface="Times New Roman" panose="02020603050405020304" charset="0"/>
              <a:sym typeface="+mn-ea"/>
            </a:endParaRPr>
          </a:p>
        </p:txBody>
      </p:sp>
      <p:pic>
        <p:nvPicPr>
          <p:cNvPr id="8" name="Picture 7"/>
          <p:cNvPicPr>
            <a:picLocks noChangeAspect="1"/>
          </p:cNvPicPr>
          <p:nvPr/>
        </p:nvPicPr>
        <p:blipFill>
          <a:blip r:embed="rId1"/>
          <a:srcRect l="321" t="-400" r="41047" b="400"/>
          <a:stretch>
            <a:fillRect/>
          </a:stretch>
        </p:blipFill>
        <p:spPr>
          <a:xfrm>
            <a:off x="897890" y="1273175"/>
            <a:ext cx="5796915" cy="5233035"/>
          </a:xfrm>
          <a:prstGeom prst="rect">
            <a:avLst/>
          </a:prstGeom>
        </p:spPr>
      </p:pic>
      <p:pic>
        <p:nvPicPr>
          <p:cNvPr id="9" name="Picture 8"/>
          <p:cNvPicPr>
            <a:picLocks noChangeAspect="1"/>
          </p:cNvPicPr>
          <p:nvPr/>
        </p:nvPicPr>
        <p:blipFill>
          <a:blip r:embed="rId2"/>
          <a:stretch>
            <a:fillRect/>
          </a:stretch>
        </p:blipFill>
        <p:spPr>
          <a:xfrm>
            <a:off x="7092950" y="1793240"/>
            <a:ext cx="4638040" cy="4225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矩形 12"/>
          <p:cNvSpPr/>
          <p:nvPr/>
        </p:nvSpPr>
        <p:spPr>
          <a:xfrm flipH="1">
            <a:off x="370840" y="441325"/>
            <a:ext cx="5450840" cy="5429250"/>
          </a:xfrm>
          <a:prstGeom prst="rect">
            <a:avLst/>
          </a:prstGeom>
          <a:noFill/>
          <a:ln w="28575">
            <a:gradFill>
              <a:gsLst>
                <a:gs pos="0">
                  <a:schemeClr val="bg1"/>
                </a:gs>
                <a:gs pos="80000">
                  <a:srgbClr val="2368A4"/>
                </a:gs>
                <a:gs pos="42000">
                  <a:srgbClr val="01DADF"/>
                </a:gs>
              </a:gsLst>
              <a:path path="circle">
                <a:fillToRect l="100000" t="100000"/>
              </a:path>
              <a:tileRect r="-100000" b="-100000"/>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sp>
        <p:nvSpPr>
          <p:cNvPr id="15" name="文本框 14"/>
          <p:cNvSpPr txBox="1"/>
          <p:nvPr/>
        </p:nvSpPr>
        <p:spPr>
          <a:xfrm>
            <a:off x="637540" y="847090"/>
            <a:ext cx="5064125" cy="5163820"/>
          </a:xfrm>
          <a:prstGeom prst="rect">
            <a:avLst/>
          </a:prstGeom>
          <a:noFill/>
        </p:spPr>
        <p:txBody>
          <a:bodyPr wrap="square" rtlCol="0" anchor="t">
            <a:noAutofit/>
          </a:bodyPr>
          <a:p>
            <a:pPr algn="l" fontAlgn="auto">
              <a:lnSpc>
                <a:spcPct val="150000"/>
              </a:lnSpc>
              <a:spcBef>
                <a:spcPts val="0"/>
              </a:spcBef>
              <a:spcAft>
                <a:spcPts val="0"/>
              </a:spcAft>
              <a:defRPr/>
            </a:pPr>
            <a:r>
              <a:rPr lang="en-US" altLang="en-GB" b="1" dirty="0">
                <a:solidFill>
                  <a:srgbClr val="564E49"/>
                </a:solidFill>
                <a:latin typeface="Arial" panose="020B0604020202020204" pitchFamily="34" charset="0"/>
                <a:sym typeface="+mn-ea"/>
              </a:rPr>
              <a:t>H</a:t>
            </a:r>
            <a:r>
              <a:rPr lang="en-US" altLang="en-US" b="1" dirty="0">
                <a:solidFill>
                  <a:srgbClr val="564E49"/>
                </a:solidFill>
                <a:latin typeface="Arial" panose="020B0604020202020204" pitchFamily="34" charset="0"/>
                <a:sym typeface="+mn-ea"/>
              </a:rPr>
              <a:t>ư</a:t>
            </a:r>
            <a:r>
              <a:rPr lang="en-US" altLang="en-GB" b="1" dirty="0">
                <a:solidFill>
                  <a:srgbClr val="564E49"/>
                </a:solidFill>
                <a:latin typeface="Arial" panose="020B0604020202020204" pitchFamily="34" charset="0"/>
                <a:sym typeface="+mn-ea"/>
              </a:rPr>
              <a:t>ớng ph</a:t>
            </a:r>
            <a:r>
              <a:rPr lang="en-US" altLang="en-US" b="1" dirty="0">
                <a:solidFill>
                  <a:srgbClr val="564E49"/>
                </a:solidFill>
                <a:latin typeface="Arial" panose="020B0604020202020204" pitchFamily="34" charset="0"/>
                <a:sym typeface="+mn-ea"/>
              </a:rPr>
              <a:t>á</a:t>
            </a:r>
            <a:r>
              <a:rPr lang="en-US" altLang="en-GB" b="1" dirty="0">
                <a:solidFill>
                  <a:srgbClr val="564E49"/>
                </a:solidFill>
                <a:latin typeface="Arial" panose="020B0604020202020204" pitchFamily="34" charset="0"/>
                <a:sym typeface="+mn-ea"/>
              </a:rPr>
              <a:t>t triển cốt l</a:t>
            </a:r>
            <a:r>
              <a:rPr lang="en-US" altLang="en-US" b="1" dirty="0">
                <a:solidFill>
                  <a:srgbClr val="564E49"/>
                </a:solidFill>
                <a:latin typeface="Arial" panose="020B0604020202020204" pitchFamily="34" charset="0"/>
                <a:sym typeface="+mn-ea"/>
              </a:rPr>
              <a:t>õ</a:t>
            </a:r>
            <a:r>
              <a:rPr lang="en-US" altLang="en-GB" b="1" dirty="0">
                <a:solidFill>
                  <a:srgbClr val="564E49"/>
                </a:solidFill>
                <a:latin typeface="Arial" panose="020B0604020202020204" pitchFamily="34" charset="0"/>
                <a:sym typeface="+mn-ea"/>
              </a:rPr>
              <a:t>i</a:t>
            </a:r>
            <a:endParaRPr lang="en-US" altLang="en-GB" b="1"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r>
              <a:rPr lang="en-US" altLang="en-GB" dirty="0">
                <a:solidFill>
                  <a:srgbClr val="564E49"/>
                </a:solidFill>
                <a:latin typeface="Arial" panose="020B0604020202020204" pitchFamily="34" charset="0"/>
                <a:sym typeface="+mn-ea"/>
              </a:rPr>
              <a:t>Thị tr</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ờng x</a:t>
            </a:r>
            <a:r>
              <a:rPr lang="en-US" altLang="en-US" dirty="0">
                <a:solidFill>
                  <a:srgbClr val="564E49"/>
                </a:solidFill>
                <a:latin typeface="Arial" panose="020B0604020202020204" pitchFamily="34" charset="0"/>
                <a:sym typeface="+mn-ea"/>
              </a:rPr>
              <a:t>ă</a:t>
            </a:r>
            <a:r>
              <a:rPr lang="en-US" altLang="en-GB" dirty="0">
                <a:solidFill>
                  <a:srgbClr val="564E49"/>
                </a:solidFill>
                <a:latin typeface="Arial" panose="020B0604020202020204" pitchFamily="34" charset="0"/>
                <a:sym typeface="+mn-ea"/>
              </a:rPr>
              <a:t>ng sinh học sẽ không bị thay thế hoàn toàn bởi xe </a:t>
            </a: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iện, mà sẽ tồn tại song song nh</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 một giải ph</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p:</a:t>
            </a:r>
            <a:endParaRPr lang="en-US" altLang="en-GB"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r>
              <a:rPr lang="en-US" altLang="en-GB" dirty="0">
                <a:solidFill>
                  <a:srgbClr val="564E49"/>
                </a:solidFill>
                <a:latin typeface="Arial" panose="020B0604020202020204" pitchFamily="34" charset="0"/>
                <a:sym typeface="+mn-ea"/>
              </a:rPr>
              <a:t>- Net-Zero 2050: C</a:t>
            </a:r>
            <a:r>
              <a:rPr lang="en-US" altLang="en-US" dirty="0">
                <a:solidFill>
                  <a:srgbClr val="564E49"/>
                </a:solidFill>
                <a:latin typeface="Arial" panose="020B0604020202020204" pitchFamily="34" charset="0"/>
                <a:sym typeface="+mn-ea"/>
              </a:rPr>
              <a:t>â</a:t>
            </a:r>
            <a:r>
              <a:rPr lang="en-US" altLang="en-GB" dirty="0">
                <a:solidFill>
                  <a:srgbClr val="564E49"/>
                </a:solidFill>
                <a:latin typeface="Arial" panose="020B0604020202020204" pitchFamily="34" charset="0"/>
                <a:sym typeface="+mn-ea"/>
              </a:rPr>
              <a:t>n bằng l</a:t>
            </a:r>
            <a:r>
              <a:rPr lang="en-US" altLang="en-US" dirty="0">
                <a:solidFill>
                  <a:srgbClr val="564E49"/>
                </a:solidFill>
                <a:latin typeface="Arial" panose="020B0604020202020204" pitchFamily="34" charset="0"/>
                <a:sym typeface="+mn-ea"/>
              </a:rPr>
              <a:t>ư</a:t>
            </a:r>
            <a:r>
              <a:rPr lang="en-US" altLang="en-GB" dirty="0">
                <a:solidFill>
                  <a:srgbClr val="564E49"/>
                </a:solidFill>
                <a:latin typeface="Arial" panose="020B0604020202020204" pitchFamily="34" charset="0"/>
                <a:sym typeface="+mn-ea"/>
              </a:rPr>
              <a:t>ợng ph</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t thải giao thông.</a:t>
            </a:r>
            <a:endParaRPr lang="en-US" altLang="en-GB"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r>
              <a:rPr lang="en-US" altLang="en-GB" dirty="0">
                <a:solidFill>
                  <a:srgbClr val="564E49"/>
                </a:solidFill>
                <a:latin typeface="Arial" panose="020B0604020202020204" pitchFamily="34" charset="0"/>
                <a:sym typeface="+mn-ea"/>
              </a:rPr>
              <a:t>- Bio-Butanol: Chuyển dịch từ Ethanol sang Butanol </a:t>
            </a:r>
            <a:r>
              <a:rPr lang="en-US" altLang="en-US" dirty="0">
                <a:solidFill>
                  <a:srgbClr val="564E49"/>
                </a:solidFill>
                <a:latin typeface="Arial" panose="020B0604020202020204" pitchFamily="34" charset="0"/>
                <a:sym typeface="+mn-ea"/>
              </a:rPr>
              <a:t>đ</a:t>
            </a:r>
            <a:r>
              <a:rPr lang="en-US" altLang="en-GB" dirty="0">
                <a:solidFill>
                  <a:srgbClr val="564E49"/>
                </a:solidFill>
                <a:latin typeface="Arial" panose="020B0604020202020204" pitchFamily="34" charset="0"/>
                <a:sym typeface="+mn-ea"/>
              </a:rPr>
              <a:t>ể c</a:t>
            </a:r>
            <a:r>
              <a:rPr lang="en-US" altLang="en-US" dirty="0">
                <a:solidFill>
                  <a:srgbClr val="564E49"/>
                </a:solidFill>
                <a:latin typeface="Arial" panose="020B0604020202020204" pitchFamily="34" charset="0"/>
                <a:sym typeface="+mn-ea"/>
              </a:rPr>
              <a:t>ó</a:t>
            </a:r>
            <a:r>
              <a:rPr lang="en-US" altLang="en-GB" dirty="0">
                <a:solidFill>
                  <a:srgbClr val="564E49"/>
                </a:solidFill>
                <a:latin typeface="Arial" panose="020B0604020202020204" pitchFamily="34" charset="0"/>
                <a:sym typeface="+mn-ea"/>
              </a:rPr>
              <a:t> hiệu suất cao h</a:t>
            </a:r>
            <a:r>
              <a:rPr lang="en-US" altLang="en-US" dirty="0">
                <a:solidFill>
                  <a:srgbClr val="564E49"/>
                </a:solidFill>
                <a:latin typeface="Arial" panose="020B0604020202020204" pitchFamily="34" charset="0"/>
                <a:sym typeface="+mn-ea"/>
              </a:rPr>
              <a:t>ơ</a:t>
            </a:r>
            <a:r>
              <a:rPr lang="en-US" altLang="en-GB" dirty="0">
                <a:solidFill>
                  <a:srgbClr val="564E49"/>
                </a:solidFill>
                <a:latin typeface="Arial" panose="020B0604020202020204" pitchFamily="34" charset="0"/>
                <a:sym typeface="+mn-ea"/>
              </a:rPr>
              <a:t>n.</a:t>
            </a:r>
            <a:endParaRPr lang="en-US" altLang="en-GB"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endParaRPr lang="en-US" altLang="en-GB" dirty="0">
              <a:solidFill>
                <a:srgbClr val="564E49"/>
              </a:solidFill>
              <a:latin typeface="Arial" panose="020B0604020202020204" pitchFamily="34" charset="0"/>
              <a:sym typeface="+mn-ea"/>
            </a:endParaRPr>
          </a:p>
          <a:p>
            <a:pPr algn="l" fontAlgn="auto">
              <a:lnSpc>
                <a:spcPct val="150000"/>
              </a:lnSpc>
              <a:spcBef>
                <a:spcPts val="0"/>
              </a:spcBef>
              <a:spcAft>
                <a:spcPts val="0"/>
              </a:spcAft>
              <a:defRPr/>
            </a:pPr>
            <a:r>
              <a:rPr lang="en-US" altLang="en-GB" dirty="0">
                <a:solidFill>
                  <a:srgbClr val="564E49"/>
                </a:solidFill>
                <a:latin typeface="Arial" panose="020B0604020202020204" pitchFamily="34" charset="0"/>
                <a:sym typeface="+mn-ea"/>
              </a:rPr>
              <a:t>- Hệ sinh th</a:t>
            </a:r>
            <a:r>
              <a:rPr lang="en-US" altLang="en-US" dirty="0">
                <a:solidFill>
                  <a:srgbClr val="564E49"/>
                </a:solidFill>
                <a:latin typeface="Arial" panose="020B0604020202020204" pitchFamily="34" charset="0"/>
                <a:sym typeface="+mn-ea"/>
              </a:rPr>
              <a:t>á</a:t>
            </a:r>
            <a:r>
              <a:rPr lang="en-US" altLang="en-GB" dirty="0">
                <a:solidFill>
                  <a:srgbClr val="564E49"/>
                </a:solidFill>
                <a:latin typeface="Arial" panose="020B0604020202020204" pitchFamily="34" charset="0"/>
                <a:sym typeface="+mn-ea"/>
              </a:rPr>
              <a:t>i xanh: Kết hợp giữa xe Hybrid (HEV) và x</a:t>
            </a:r>
            <a:r>
              <a:rPr lang="en-US" altLang="en-US" dirty="0">
                <a:solidFill>
                  <a:srgbClr val="564E49"/>
                </a:solidFill>
                <a:latin typeface="Arial" panose="020B0604020202020204" pitchFamily="34" charset="0"/>
                <a:sym typeface="+mn-ea"/>
              </a:rPr>
              <a:t>ă</a:t>
            </a:r>
            <a:r>
              <a:rPr lang="en-US" altLang="en-GB" dirty="0">
                <a:solidFill>
                  <a:srgbClr val="564E49"/>
                </a:solidFill>
                <a:latin typeface="Arial" panose="020B0604020202020204" pitchFamily="34" charset="0"/>
                <a:sym typeface="+mn-ea"/>
              </a:rPr>
              <a:t>ng sinh học cao cấp.</a:t>
            </a:r>
            <a:endParaRPr lang="en-US" altLang="en-GB" dirty="0">
              <a:solidFill>
                <a:srgbClr val="564E49"/>
              </a:solidFill>
              <a:latin typeface="Arial" panose="020B0604020202020204" pitchFamily="34" charset="0"/>
              <a:sym typeface="+mn-ea"/>
            </a:endParaRPr>
          </a:p>
        </p:txBody>
      </p:sp>
      <p:pic>
        <p:nvPicPr>
          <p:cNvPr id="4" name="Picture 3"/>
          <p:cNvPicPr/>
          <p:nvPr/>
        </p:nvPicPr>
        <p:blipFill>
          <a:blip r:embed="rId1"/>
          <a:stretch>
            <a:fillRect/>
          </a:stretch>
        </p:blipFill>
        <p:spPr>
          <a:xfrm>
            <a:off x="6323330" y="441960"/>
            <a:ext cx="5678170" cy="54279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2ab3d008f7d1131a10c9ba5f68f0944040e9e325397d0-HlgNnv_fw658[1]"/>
          <p:cNvPicPr>
            <a:picLocks noChangeAspect="1"/>
          </p:cNvPicPr>
          <p:nvPr/>
        </p:nvPicPr>
        <p:blipFill>
          <a:blip r:embed="rId1"/>
          <a:stretch>
            <a:fillRect/>
          </a:stretch>
        </p:blipFill>
        <p:spPr>
          <a:xfrm>
            <a:off x="318" y="0"/>
            <a:ext cx="12192000" cy="6857365"/>
          </a:xfrm>
          <a:prstGeom prst="rect">
            <a:avLst/>
          </a:prstGeom>
        </p:spPr>
      </p:pic>
      <p:sp>
        <p:nvSpPr>
          <p:cNvPr id="6" name="矩形 5"/>
          <p:cNvSpPr/>
          <p:nvPr/>
        </p:nvSpPr>
        <p:spPr>
          <a:xfrm>
            <a:off x="1678940" y="1588770"/>
            <a:ext cx="9039860" cy="3988435"/>
          </a:xfrm>
          <a:prstGeom prst="rect">
            <a:avLst/>
          </a:prstGeom>
          <a:noFill/>
          <a:ln w="28575">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sp>
        <p:nvSpPr>
          <p:cNvPr id="9" name="矩形 8"/>
          <p:cNvSpPr/>
          <p:nvPr/>
        </p:nvSpPr>
        <p:spPr>
          <a:xfrm>
            <a:off x="1922145" y="1878965"/>
            <a:ext cx="8553450" cy="3408045"/>
          </a:xfrm>
          <a:prstGeom prst="rect">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Roboto" charset="0"/>
            </a:endParaRPr>
          </a:p>
        </p:txBody>
      </p:sp>
      <p:sp>
        <p:nvSpPr>
          <p:cNvPr id="7" name="文本框 6"/>
          <p:cNvSpPr txBox="1"/>
          <p:nvPr/>
        </p:nvSpPr>
        <p:spPr>
          <a:xfrm>
            <a:off x="2162175" y="1878965"/>
            <a:ext cx="7868285" cy="3415030"/>
          </a:xfrm>
          <a:prstGeom prst="rect">
            <a:avLst/>
          </a:prstGeom>
          <a:noFill/>
        </p:spPr>
        <p:txBody>
          <a:bodyPr wrap="square" rtlCol="0" anchor="t">
            <a:spAutoFit/>
          </a:bodyPr>
          <a:p>
            <a:pPr algn="ctr"/>
            <a:r>
              <a:rPr lang="vi-VN" altLang="zh-CN" sz="7200">
                <a:blipFill>
                  <a:blip r:embed="rId2"/>
                  <a:tile tx="-38100" ty="-349250" sx="100000" sy="100000" flip="none" algn="tl"/>
                </a:blipFill>
                <a:latin typeface="Roboto Bk" charset="0"/>
                <a:cs typeface="Roboto Bk" charset="0"/>
              </a:rPr>
              <a:t>Cảm ơn thầy và các bạn đã lắng nghe !</a:t>
            </a:r>
            <a:r>
              <a:rPr lang="zh-CN" altLang="en-US" sz="7200">
                <a:blipFill>
                  <a:blip r:embed="rId2"/>
                  <a:tile tx="-38100" ty="-349250" sx="100000" sy="100000" flip="none" algn="tl"/>
                </a:blipFill>
                <a:latin typeface="Roboto Bk" charset="0"/>
                <a:cs typeface="Roboto Bk" charset="0"/>
              </a:rPr>
              <a:t> </a:t>
            </a:r>
            <a:endParaRPr lang="zh-CN" altLang="en-US" sz="7200">
              <a:blipFill>
                <a:blip r:embed="rId2"/>
                <a:tile tx="-38100" ty="-349250" sx="100000" sy="100000" flip="none" algn="tl"/>
              </a:blipFill>
              <a:latin typeface="Roboto Bk" charset="0"/>
              <a:cs typeface="Roboto Bk" charset="0"/>
            </a:endParaRPr>
          </a:p>
        </p:txBody>
      </p:sp>
    </p:spTree>
  </p:cSld>
  <p:clrMapOvr>
    <a:masterClrMapping/>
  </p:clrMapOvr>
</p:sld>
</file>

<file path=ppt/tags/tag1.xml><?xml version="1.0" encoding="utf-8"?>
<p:tagLst xmlns:p="http://schemas.openxmlformats.org/presentationml/2006/main">
  <p:tag name="KSO_WM_DIAGRAM_VIRTUALLY_FRAME" val="{&quot;height&quot;:338.05,&quot;left&quot;:88.2,&quot;top&quot;:101.45,&quot;width&quot;:363.05}"/>
</p:tagLst>
</file>

<file path=ppt/tags/tag2.xml><?xml version="1.0" encoding="utf-8"?>
<p:tagLst xmlns:p="http://schemas.openxmlformats.org/presentationml/2006/main">
  <p:tag name="KSO_WM_DIAGRAM_VIRTUALLY_FRAME" val="{&quot;height&quot;:338.05,&quot;left&quot;:88.2,&quot;top&quot;:101.45,&quot;width&quot;:363.05}"/>
</p:tagLst>
</file>

<file path=ppt/tags/tag3.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4.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5.xml><?xml version="1.0" encoding="utf-8"?>
<p:tagLst xmlns:p="http://schemas.openxmlformats.org/presentationml/2006/main">
  <p:tag name="KSO_WM_DIAGRAM_VIRTUALLY_FRAME" val="{&quot;height&quot;:338.05,&quot;left&quot;:88.2,&quot;top&quot;:101.45,&quot;width&quot;:363.05}"/>
</p:tagLst>
</file>

<file path=ppt/tags/tag6.xml><?xml version="1.0" encoding="utf-8"?>
<p:tagLst xmlns:p="http://schemas.openxmlformats.org/presentationml/2006/main">
  <p:tag name="KSO_WM_DIAGRAM_VIRTUALLY_FRAME" val="{&quot;height&quot;:338.05,&quot;left&quot;:88.2,&quot;top&quot;:101.45,&quot;width&quot;:363.05}"/>
</p:tagLst>
</file>

<file path=ppt/tags/tag7.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8.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9.xml><?xml version="1.0" encoding="utf-8"?>
<p:tagLst xmlns:p="http://schemas.openxmlformats.org/presentationml/2006/main">
  <p:tag name="KSO_WM_DIAGRAM_VIRTUALLY_FRAME" val="{&quot;height&quot;:338.05,&quot;left&quot;:88.2,&quot;top&quot;:101.45,&quot;width&quot;:363.05}"/>
</p:tagLst>
</file>

<file path=ppt/tags/tag10.xml><?xml version="1.0" encoding="utf-8"?>
<p:tagLst xmlns:p="http://schemas.openxmlformats.org/presentationml/2006/main">
  <p:tag name="KSO_WM_DIAGRAM_VIRTUALLY_FRAME" val="{&quot;height&quot;:338.05,&quot;left&quot;:88.2,&quot;top&quot;:101.45,&quot;width&quot;:363.05}"/>
</p:tagLst>
</file>

<file path=ppt/tags/tag11.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12.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13.xml><?xml version="1.0" encoding="utf-8"?>
<p:tagLst xmlns:p="http://schemas.openxmlformats.org/presentationml/2006/main">
  <p:tag name="MH" val="20150913182123"/>
  <p:tag name="MH_LIBRARY" val="GRAPHIC"/>
  <p:tag name="MH_ORDER" val="文本框 11"/>
</p:tagLst>
</file>

<file path=ppt/tags/tag14.xml><?xml version="1.0" encoding="utf-8"?>
<p:tagLst xmlns:p="http://schemas.openxmlformats.org/presentationml/2006/main">
  <p:tag name="KSO_WM_DIAGRAM_VIRTUALLY_FRAME" val="{&quot;height&quot;:338.05,&quot;left&quot;:88.2,&quot;top&quot;:101.45,&quot;width&quot;:363.05}"/>
</p:tagLst>
</file>

<file path=ppt/tags/tag15.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16.xml><?xml version="1.0" encoding="utf-8"?>
<p:tagLst xmlns:p="http://schemas.openxmlformats.org/presentationml/2006/main">
  <p:tag name="KSO_WM_DIAGRAM_VIRTUALLY_FRAME" val="{&quot;height&quot;:394.55,&quot;left&quot;:55.7,&quot;top&quot;:81.6,&quot;width&quot;:848.65}"/>
</p:tagLst>
</file>

<file path=ppt/tags/tag17.xml><?xml version="1.0" encoding="utf-8"?>
<p:tagLst xmlns:p="http://schemas.openxmlformats.org/presentationml/2006/main">
  <p:tag name="KSO_WM_DIAGRAM_VIRTUALLY_FRAME" val="{&quot;height&quot;:394.55,&quot;left&quot;:55.7,&quot;top&quot;:81.6,&quot;width&quot;:848.65}"/>
</p:tagLst>
</file>

<file path=ppt/tags/tag18.xml><?xml version="1.0" encoding="utf-8"?>
<p:tagLst xmlns:p="http://schemas.openxmlformats.org/presentationml/2006/main">
  <p:tag name="KSO_WM_DIAGRAM_VIRTUALLY_FRAME" val="{&quot;height&quot;:394.55,&quot;left&quot;:55.7,&quot;top&quot;:81.6,&quot;width&quot;:848.65}"/>
</p:tagLst>
</file>

<file path=ppt/tags/tag19.xml><?xml version="1.0" encoding="utf-8"?>
<p:tagLst xmlns:p="http://schemas.openxmlformats.org/presentationml/2006/main">
  <p:tag name="MH" val="20150913182123"/>
  <p:tag name="MH_LIBRARY" val="GRAPHIC"/>
  <p:tag name="MH_ORDER" val="文本框 11"/>
  <p:tag name="KSO_WM_DIAGRAM_VIRTUALLY_FRAME" val="{&quot;height&quot;:394.55,&quot;left&quot;:55.7,&quot;top&quot;:81.6,&quot;width&quot;:848.65}"/>
</p:tagLst>
</file>

<file path=ppt/tags/tag20.xml><?xml version="1.0" encoding="utf-8"?>
<p:tagLst xmlns:p="http://schemas.openxmlformats.org/presentationml/2006/main">
  <p:tag name="MH" val="20150913182123"/>
  <p:tag name="MH_LIBRARY" val="GRAPHIC"/>
  <p:tag name="MH_ORDER" val="文本框 11"/>
  <p:tag name="KSO_WM_DIAGRAM_VIRTUALLY_FRAME" val="{&quot;height&quot;:394.55,&quot;left&quot;:55.7,&quot;top&quot;:81.6,&quot;width&quot;:848.65}"/>
</p:tagLst>
</file>

<file path=ppt/tags/tag21.xml><?xml version="1.0" encoding="utf-8"?>
<p:tagLst xmlns:p="http://schemas.openxmlformats.org/presentationml/2006/main">
  <p:tag name="KSO_WM_DIAGRAM_VIRTUALLY_FRAME" val="{&quot;height&quot;:394.55,&quot;left&quot;:55.7,&quot;top&quot;:81.6,&quot;width&quot;:848.65}"/>
</p:tagLst>
</file>

<file path=ppt/tags/tag22.xml><?xml version="1.0" encoding="utf-8"?>
<p:tagLst xmlns:p="http://schemas.openxmlformats.org/presentationml/2006/main">
  <p:tag name="KSO_WM_DIAGRAM_VIRTUALLY_FRAME" val="{&quot;height&quot;:394.55,&quot;left&quot;:55.7,&quot;top&quot;:81.6,&quot;width&quot;:848.65}"/>
</p:tagLst>
</file>

<file path=ppt/tags/tag23.xml><?xml version="1.0" encoding="utf-8"?>
<p:tagLst xmlns:p="http://schemas.openxmlformats.org/presentationml/2006/main">
  <p:tag name="MH" val="20150913182123"/>
  <p:tag name="MH_LIBRARY" val="GRAPHIC"/>
  <p:tag name="MH_ORDER" val="文本框 11"/>
  <p:tag name="KSO_WM_DIAGRAM_VIRTUALLY_FRAME" val="{&quot;height&quot;:394.55,&quot;left&quot;:55.7,&quot;top&quot;:81.6,&quot;width&quot;:848.65}"/>
</p:tagLst>
</file>

<file path=ppt/tags/tag24.xml><?xml version="1.0" encoding="utf-8"?>
<p:tagLst xmlns:p="http://schemas.openxmlformats.org/presentationml/2006/main">
  <p:tag name="KSO_WM_DIAGRAM_VIRTUALLY_FRAME" val="{&quot;height&quot;:394.55,&quot;left&quot;:55.7,&quot;top&quot;:81.6,&quot;width&quot;:848.65}"/>
</p:tagLst>
</file>

<file path=ppt/tags/tag25.xml><?xml version="1.0" encoding="utf-8"?>
<p:tagLst xmlns:p="http://schemas.openxmlformats.org/presentationml/2006/main">
  <p:tag name="KSO_WM_DIAGRAM_VIRTUALLY_FRAME" val="{&quot;height&quot;:394.55,&quot;left&quot;:55.7,&quot;top&quot;:81.6,&quot;width&quot;:848.65}"/>
</p:tagLst>
</file>

<file path=ppt/tags/tag26.xml><?xml version="1.0" encoding="utf-8"?>
<p:tagLst xmlns:p="http://schemas.openxmlformats.org/presentationml/2006/main">
  <p:tag name="MH" val="20150913182123"/>
  <p:tag name="MH_LIBRARY" val="GRAPHIC"/>
  <p:tag name="MH_ORDER" val="文本框 11"/>
  <p:tag name="KSO_WM_DIAGRAM_VIRTUALLY_FRAME" val="{&quot;height&quot;:394.55,&quot;left&quot;:55.7,&quot;top&quot;:81.6,&quot;width&quot;:848.65}"/>
</p:tagLst>
</file>

<file path=ppt/tags/tag27.xml><?xml version="1.0" encoding="utf-8"?>
<p:tagLst xmlns:p="http://schemas.openxmlformats.org/presentationml/2006/main">
  <p:tag name="MH" val="20150913182123"/>
  <p:tag name="MH_LIBRARY" val="GRAPHIC"/>
  <p:tag name="MH_ORDER" val="文本框 11"/>
</p:tagLst>
</file>

<file path=ppt/tags/tag28.xml><?xml version="1.0" encoding="utf-8"?>
<p:tagLst xmlns:p="http://schemas.openxmlformats.org/presentationml/2006/main">
  <p:tag name="TABLE_ENDDRAG_ORIGIN_RECT" val="403*386"/>
  <p:tag name="TABLE_ENDDRAG_RECT" val="98*95*403*386"/>
</p:tagLst>
</file>

<file path=ppt/tags/tag29.xml><?xml version="1.0" encoding="utf-8"?>
<p:tagLst xmlns:p="http://schemas.openxmlformats.org/presentationml/2006/main">
  <p:tag name="MH" val="20150913182123"/>
  <p:tag name="MH_LIBRARY" val="GRAPHIC"/>
  <p:tag name="MH_ORDER" val="文本框 11"/>
</p:tagLst>
</file>

<file path=ppt/tags/tag30.xml><?xml version="1.0" encoding="utf-8"?>
<p:tagLst xmlns:p="http://schemas.openxmlformats.org/presentationml/2006/main">
  <p:tag name="MH" val="20150913182123"/>
  <p:tag name="MH_LIBRARY" val="GRAPHIC"/>
  <p:tag name="MH_ORDER" val="文本框 11"/>
</p:tagLst>
</file>

<file path=ppt/tags/tag31.xml><?xml version="1.0" encoding="utf-8"?>
<p:tagLst xmlns:p="http://schemas.openxmlformats.org/presentationml/2006/main">
  <p:tag name="MH" val="20150913182123"/>
  <p:tag name="MH_LIBRARY" val="GRAPHIC"/>
  <p:tag name="MH_ORDER" val="文本框 11"/>
</p:tagLst>
</file>

<file path=ppt/tags/tag32.xml><?xml version="1.0" encoding="utf-8"?>
<p:tagLst xmlns:p="http://schemas.openxmlformats.org/presentationml/2006/main">
  <p:tag name="MH" val="20150913182123"/>
  <p:tag name="MH_LIBRARY" val="GRAPHIC"/>
  <p:tag name="MH_ORDER" val="文本框 11"/>
</p:tagLst>
</file>

<file path=ppt/tags/tag33.xml><?xml version="1.0" encoding="utf-8"?>
<p:tagLst xmlns:p="http://schemas.openxmlformats.org/presentationml/2006/main">
  <p:tag name="MH" val="20150913182123"/>
  <p:tag name="MH_LIBRARY" val="GRAPHIC"/>
  <p:tag name="MH_ORDER" val="文本框 11"/>
</p:tagLst>
</file>

<file path=ppt/tags/tag34.xml><?xml version="1.0" encoding="utf-8"?>
<p:tagLst xmlns:p="http://schemas.openxmlformats.org/presentationml/2006/main">
  <p:tag name="MH" val="20150913182123"/>
  <p:tag name="MH_LIBRARY" val="GRAPHIC"/>
  <p:tag name="MH_ORDER" val="文本框 11"/>
</p:tagLst>
</file>

<file path=ppt/tags/tag35.xml><?xml version="1.0" encoding="utf-8"?>
<p:tagLst xmlns:p="http://schemas.openxmlformats.org/presentationml/2006/main">
  <p:tag name="MH" val="20150913182123"/>
  <p:tag name="MH_LIBRARY" val="GRAPHIC"/>
  <p:tag name="MH_ORDER" val="文本框 11"/>
</p:tagLst>
</file>

<file path=ppt/tags/tag36.xml><?xml version="1.0" encoding="utf-8"?>
<p:tagLst xmlns:p="http://schemas.openxmlformats.org/presentationml/2006/main">
  <p:tag name="MH" val="20150913182123"/>
  <p:tag name="MH_LIBRARY" val="GRAPHIC"/>
  <p:tag name="MH_ORDER" val="文本框 11"/>
</p:tagLst>
</file>

<file path=ppt/tags/tag37.xml><?xml version="1.0" encoding="utf-8"?>
<p:tagLst xmlns:p="http://schemas.openxmlformats.org/presentationml/2006/main">
  <p:tag name="MH" val="20150913182123"/>
  <p:tag name="MH_LIBRARY" val="GRAPHIC"/>
  <p:tag name="MH_ORDER" val="文本框 11"/>
</p:tagLst>
</file>

<file path=ppt/tags/tag38.xml><?xml version="1.0" encoding="utf-8"?>
<p:tagLst xmlns:p="http://schemas.openxmlformats.org/presentationml/2006/main">
  <p:tag name="MH" val="20150913182123"/>
  <p:tag name="MH_LIBRARY" val="GRAPHIC"/>
  <p:tag name="MH_ORDER" val="文本框 11"/>
</p:tagLst>
</file>

<file path=ppt/tags/tag39.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ags/tag40.xml><?xml version="1.0" encoding="utf-8"?>
<p:tagLst xmlns:p="http://schemas.openxmlformats.org/presentationml/2006/main">
  <p:tag name="MH" val="20150913182123"/>
  <p:tag name="MH_LIBRARY" val="GRAPHIC"/>
  <p:tag name="MH_ORDER" val="文本框 11"/>
  <p:tag name="KSO_WM_DIAGRAM_VIRTUALLY_FRAME" val="{&quot;height&quot;:338.05,&quot;left&quot;:88.2,&quot;top&quot;:101.45,&quot;width&quot;:363.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2798</Words>
  <Application>WPS Presentation</Application>
  <PresentationFormat>宽屏</PresentationFormat>
  <Paragraphs>127</Paragraphs>
  <Slides>17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Roboto</vt:lpstr>
      <vt:lpstr>Times New Roman</vt:lpstr>
      <vt:lpstr>Wingdings</vt:lpstr>
      <vt:lpstr>Afacad Flux</vt:lpstr>
      <vt:lpstr>Segoe Print</vt:lpstr>
      <vt:lpstr>Roboto Bk</vt:lpstr>
      <vt:lpstr>Calibri</vt:lpstr>
      <vt:lpstr>Microsoft YaHei</vt:lpstr>
      <vt:lpstr>Arial Unicode MS</vt:lpstr>
      <vt:lpstr>Office 主题</vt:lpstr>
      <vt:lpstr>PHÂN TÍCH BIẾN ĐỘNG GIÁ XĂNG DẦU VIỆT NAM 2021-2025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VULCAN</dc:creator>
  <cp:lastModifiedBy>Thảo Nguyễn</cp:lastModifiedBy>
  <cp:revision>31</cp:revision>
  <dcterms:created xsi:type="dcterms:W3CDTF">2020-04-25T10:59:00Z</dcterms:created>
  <dcterms:modified xsi:type="dcterms:W3CDTF">2026-05-23T17:58:33Z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24FA42DDDD9944AF94395B20F7BCD2EC_13</vt:lpwstr>
  </property>
</Properties>
</file>